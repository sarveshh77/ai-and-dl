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1" r:id="rId3"/>
    <p:sldId id="265" r:id="rId4"/>
    <p:sldId id="264" r:id="rId5"/>
    <p:sldId id="291" r:id="rId6"/>
    <p:sldId id="292" r:id="rId7"/>
    <p:sldId id="266" r:id="rId8"/>
    <p:sldId id="267" r:id="rId9"/>
    <p:sldId id="268" r:id="rId10"/>
    <p:sldId id="299" r:id="rId11"/>
    <p:sldId id="298" r:id="rId12"/>
    <p:sldId id="282" r:id="rId13"/>
    <p:sldId id="269" r:id="rId14"/>
    <p:sldId id="289"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3382"/>
    <a:srgbClr val="003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105" d="100"/>
          <a:sy n="105" d="100"/>
        </p:scale>
        <p:origin x="1026"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BEBA4E-D027-4791-95B6-2CC1078D56E3}" type="datetimeFigureOut">
              <a:rPr lang="en-IN" smtClean="0"/>
              <a:pPr/>
              <a:t>15-09-2025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433A14-C5D4-4F4F-BC6D-7B1E6E55D170}" type="slidenum">
              <a:rPr lang="en-IN" smtClean="0"/>
              <a:pPr/>
              <a:t>‹#›</a:t>
            </a:fld>
            <a:endParaRPr lang="en-IN"/>
          </a:p>
        </p:txBody>
      </p:sp>
    </p:spTree>
    <p:extLst>
      <p:ext uri="{BB962C8B-B14F-4D97-AF65-F5344CB8AC3E}">
        <p14:creationId xmlns:p14="http://schemas.microsoft.com/office/powerpoint/2010/main" val="3954874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910657-FDC2-46ED-A506-374F8986D815}" type="slidenum">
              <a:rPr lang="en-IN" smtClean="0"/>
              <a:pPr/>
              <a:t>7</a:t>
            </a:fld>
            <a:endParaRPr lang="en-IN"/>
          </a:p>
        </p:txBody>
      </p:sp>
    </p:spTree>
    <p:extLst>
      <p:ext uri="{BB962C8B-B14F-4D97-AF65-F5344CB8AC3E}">
        <p14:creationId xmlns:p14="http://schemas.microsoft.com/office/powerpoint/2010/main" val="1944549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DBE71D-515D-4122-8BAB-699EEB0060DF}" type="slidenum">
              <a:rPr lang="en-IN" smtClean="0"/>
              <a:pPr/>
              <a:t>8</a:t>
            </a:fld>
            <a:endParaRPr lang="en-IN"/>
          </a:p>
        </p:txBody>
      </p:sp>
    </p:spTree>
    <p:extLst>
      <p:ext uri="{BB962C8B-B14F-4D97-AF65-F5344CB8AC3E}">
        <p14:creationId xmlns:p14="http://schemas.microsoft.com/office/powerpoint/2010/main" val="2166232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4073C-E6E9-B814-4E8C-FA7EDA595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8804E-7688-9CC7-ADC0-8DE8E2D79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6BA5E-EC8B-5F1A-1B3E-C911C52325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5FE8A5-E00F-7306-B5BC-417180D5AD8E}"/>
              </a:ext>
            </a:extLst>
          </p:cNvPr>
          <p:cNvSpPr>
            <a:spLocks noGrp="1"/>
          </p:cNvSpPr>
          <p:nvPr>
            <p:ph type="sldNum" sz="quarter" idx="5"/>
          </p:nvPr>
        </p:nvSpPr>
        <p:spPr/>
        <p:txBody>
          <a:bodyPr/>
          <a:lstStyle/>
          <a:p>
            <a:fld id="{C5DBE71D-515D-4122-8BAB-699EEB0060DF}" type="slidenum">
              <a:rPr lang="en-IN" smtClean="0"/>
              <a:pPr/>
              <a:t>11</a:t>
            </a:fld>
            <a:endParaRPr lang="en-IN"/>
          </a:p>
        </p:txBody>
      </p:sp>
    </p:spTree>
    <p:extLst>
      <p:ext uri="{BB962C8B-B14F-4D97-AF65-F5344CB8AC3E}">
        <p14:creationId xmlns:p14="http://schemas.microsoft.com/office/powerpoint/2010/main" val="2211985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DBE71D-515D-4122-8BAB-699EEB0060DF}" type="slidenum">
              <a:rPr lang="en-IN" smtClean="0"/>
              <a:pPr/>
              <a:t>12</a:t>
            </a:fld>
            <a:endParaRPr lang="en-IN"/>
          </a:p>
        </p:txBody>
      </p:sp>
    </p:spTree>
    <p:extLst>
      <p:ext uri="{BB962C8B-B14F-4D97-AF65-F5344CB8AC3E}">
        <p14:creationId xmlns:p14="http://schemas.microsoft.com/office/powerpoint/2010/main" val="3401171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0710E-E9D4-BDDC-41AE-49229B513D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B3583D-C647-A879-87F6-24DB2CB3F2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D821CA-CCCF-74B9-F537-27D2BD39F2D1}"/>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107E5F5F-1AE0-7D73-6126-0BFBA3EF6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CCB706-05BC-05CB-58B8-6A3317A55231}"/>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1923090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B3855-A025-E60E-33AF-DC932567B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256450-4E08-0EE6-131D-1ED5A8454C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FE23E-F908-E33F-A158-BA7968A08501}"/>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A4F7A000-BFF9-3ED7-6675-907335DD45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F53BC-4727-F340-C244-EB78827E7F6C}"/>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699242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8E8C-578A-38D4-A211-07D077F8E8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90FE42-4A1D-63C4-1EEC-297CE4FDA9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5F7756-AB39-6055-85D5-5F468FE26DCB}"/>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E8F64B51-330D-0EF3-B779-C45B005780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A44B74-7407-788D-49C8-4DCCF1C36DD4}"/>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2716465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AB94-87B7-F915-B0ED-C9F2A5AA38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82CB44-7C67-9584-8DFB-4780F536B8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F1EF8E-95BA-E808-C6ED-268EA88F4F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9E85EB-C097-9327-D7BA-D54472656AE3}"/>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6" name="Footer Placeholder 5">
            <a:extLst>
              <a:ext uri="{FF2B5EF4-FFF2-40B4-BE49-F238E27FC236}">
                <a16:creationId xmlns:a16="http://schemas.microsoft.com/office/drawing/2014/main" id="{69ECEC6E-D219-8DB5-3F29-0536BB0B1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7DC197-5664-A98F-DB2E-1496E138E46A}"/>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150157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A005F-7855-22DA-F598-C7C1A63367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27EB4E-0AD7-5C04-7618-FDEB95C316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D5E8FA-E892-A5EE-FB28-435742CBC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405D5D-F823-830E-D5C6-30BC08077A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C70486-422B-199B-BE5F-DDFF7DB8C8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93555B-B5ED-F11B-F0F3-26AB91D17273}"/>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8" name="Footer Placeholder 7">
            <a:extLst>
              <a:ext uri="{FF2B5EF4-FFF2-40B4-BE49-F238E27FC236}">
                <a16:creationId xmlns:a16="http://schemas.microsoft.com/office/drawing/2014/main" id="{78EBDAA5-2450-C5EF-8806-A548474DD00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36B210-2EE2-B6DC-FDB3-AC9FB161946F}"/>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343757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0B491-D155-C47E-F649-536FAC7DA9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F187F0-ADEA-8226-51BA-0514F209A374}"/>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4" name="Footer Placeholder 3">
            <a:extLst>
              <a:ext uri="{FF2B5EF4-FFF2-40B4-BE49-F238E27FC236}">
                <a16:creationId xmlns:a16="http://schemas.microsoft.com/office/drawing/2014/main" id="{0BBD9CDD-9C54-BD06-F9C1-1391BD5C45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D48CCE-89E9-10D7-EAA7-3F0A324DAC98}"/>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1212886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C3453F-8F66-3103-7933-47D7CF1895C8}"/>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3" name="Footer Placeholder 2">
            <a:extLst>
              <a:ext uri="{FF2B5EF4-FFF2-40B4-BE49-F238E27FC236}">
                <a16:creationId xmlns:a16="http://schemas.microsoft.com/office/drawing/2014/main" id="{99577078-2EAC-DE3E-7983-6DA0EDE6DD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A7F054-BC57-F72E-261D-B101BBD52E5D}"/>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1923758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F6AE-CDEA-04C4-F3FF-274B8F4326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15B0A2-2DBD-FBC6-0A5C-49F97B0C7A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3534EF-B55C-561F-7AAF-977DF2D04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D7946-F73F-32CC-42FE-B72CCFA414B8}"/>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6" name="Footer Placeholder 5">
            <a:extLst>
              <a:ext uri="{FF2B5EF4-FFF2-40B4-BE49-F238E27FC236}">
                <a16:creationId xmlns:a16="http://schemas.microsoft.com/office/drawing/2014/main" id="{F7A0278E-520A-ACA0-6CA0-42E97E5F71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F2784B-57D6-BFD6-6941-406F0BC45695}"/>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79164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118A-F449-4F3B-10F6-7970DAC2A9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C3F461-8261-0F96-98E6-DB4BF2F275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B74225-A0C7-04FB-617B-8A86228540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2B97C2-3A6B-6D84-7A97-AB26AAE57793}"/>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6" name="Footer Placeholder 5">
            <a:extLst>
              <a:ext uri="{FF2B5EF4-FFF2-40B4-BE49-F238E27FC236}">
                <a16:creationId xmlns:a16="http://schemas.microsoft.com/office/drawing/2014/main" id="{26E75612-E605-C437-593D-87DA975FEB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3C3E5C-42C9-2F4F-C44A-37028BF3958C}"/>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304851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BDC8E-17D0-8FB0-3FCE-99B629045E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3A39B5-2A99-8A69-3CCF-4016457650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C24186-6159-5BCC-3AEF-7D2903FC4287}"/>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5B04CD69-9D33-7A47-8411-5076437A34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9D059C-C08E-A985-0513-524E2C46D9A3}"/>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2821771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F91F24-955C-F4D3-5751-1A05B5CDAE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E198EA-796F-6B1C-2CFC-25DFCBDAF3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7D1C5C-D679-66D7-07A2-1F09A5D4D434}"/>
              </a:ext>
            </a:extLst>
          </p:cNvPr>
          <p:cNvSpPr>
            <a:spLocks noGrp="1"/>
          </p:cNvSpPr>
          <p:nvPr>
            <p:ph type="dt" sz="half" idx="10"/>
          </p:nvPr>
        </p:nvSpPr>
        <p:spPr/>
        <p:txBody>
          <a:body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C68B9576-75E4-D39F-9E1D-BA0004D5F9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190F71-E0EC-FFCB-1AE3-96310839025C}"/>
              </a:ext>
            </a:extLst>
          </p:cNvPr>
          <p:cNvSpPr>
            <a:spLocks noGrp="1"/>
          </p:cNvSpPr>
          <p:nvPr>
            <p:ph type="sldNum" sz="quarter" idx="12"/>
          </p:nvPr>
        </p:nvSpPr>
        <p:spPr/>
        <p:txBody>
          <a:bodyPr/>
          <a:lstStyle/>
          <a:p>
            <a:fld id="{B59B0187-0917-499B-829A-22C1869CA9F3}" type="slidenum">
              <a:rPr lang="en-IN" smtClean="0"/>
              <a:pPr/>
              <a:t>‹#›</a:t>
            </a:fld>
            <a:endParaRPr lang="en-IN"/>
          </a:p>
        </p:txBody>
      </p:sp>
    </p:spTree>
    <p:extLst>
      <p:ext uri="{BB962C8B-B14F-4D97-AF65-F5344CB8AC3E}">
        <p14:creationId xmlns:p14="http://schemas.microsoft.com/office/powerpoint/2010/main" val="3399513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9FB59-614B-46F8-E331-2B9351533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41C97F-CE5B-2931-3DB7-1F2805289E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9E6F1-17F3-89E1-9380-B3C57D72FE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782FA4-28F9-41D9-985D-42E51EDF6F06}" type="datetimeFigureOut">
              <a:rPr lang="en-IN" smtClean="0"/>
              <a:pPr/>
              <a:t>15-09-2025</a:t>
            </a:fld>
            <a:endParaRPr lang="en-IN"/>
          </a:p>
        </p:txBody>
      </p:sp>
      <p:sp>
        <p:nvSpPr>
          <p:cNvPr id="5" name="Footer Placeholder 4">
            <a:extLst>
              <a:ext uri="{FF2B5EF4-FFF2-40B4-BE49-F238E27FC236}">
                <a16:creationId xmlns:a16="http://schemas.microsoft.com/office/drawing/2014/main" id="{C97B9BA0-D8CE-D294-37DE-5DCA1C4126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FC75A0E-51C4-60AD-4923-532A1A094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9B0187-0917-499B-829A-22C1869CA9F3}" type="slidenum">
              <a:rPr lang="en-IN" smtClean="0"/>
              <a:pPr/>
              <a:t>‹#›</a:t>
            </a:fld>
            <a:endParaRPr lang="en-IN"/>
          </a:p>
        </p:txBody>
      </p:sp>
    </p:spTree>
    <p:extLst>
      <p:ext uri="{BB962C8B-B14F-4D97-AF65-F5344CB8AC3E}">
        <p14:creationId xmlns:p14="http://schemas.microsoft.com/office/powerpoint/2010/main" val="183139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easy is it to make a deepfake video?">
            <a:extLst>
              <a:ext uri="{FF2B5EF4-FFF2-40B4-BE49-F238E27FC236}">
                <a16:creationId xmlns:a16="http://schemas.microsoft.com/office/drawing/2014/main" id="{212EB5CD-0C53-5253-EC37-43A7919F7A72}"/>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1B496AD-F340-4565-94FA-0C79CED411C3}"/>
              </a:ext>
            </a:extLst>
          </p:cNvPr>
          <p:cNvSpPr txBox="1"/>
          <p:nvPr/>
        </p:nvSpPr>
        <p:spPr>
          <a:xfrm>
            <a:off x="612816" y="2798383"/>
            <a:ext cx="5519953" cy="2308324"/>
          </a:xfrm>
          <a:prstGeom prst="rect">
            <a:avLst/>
          </a:prstGeom>
          <a:noFill/>
        </p:spPr>
        <p:txBody>
          <a:bodyPr wrap="square" rtlCol="0">
            <a:spAutoFit/>
          </a:bodyPr>
          <a:lstStyle/>
          <a:p>
            <a:pPr lvl="0" algn="ctr"/>
            <a:r>
              <a:rPr lang="en-US" sz="3600" dirty="0" err="1">
                <a:solidFill>
                  <a:schemeClr val="bg1"/>
                </a:solidFill>
                <a:latin typeface="Times New Roman" panose="02020603050405020304" pitchFamily="18" charset="0"/>
                <a:cs typeface="Times New Roman" panose="02020603050405020304" pitchFamily="18" charset="0"/>
              </a:rPr>
              <a:t>MediScribe</a:t>
            </a:r>
            <a:r>
              <a:rPr lang="en-US" sz="3600" dirty="0">
                <a:solidFill>
                  <a:schemeClr val="bg1"/>
                </a:solidFill>
                <a:latin typeface="Times New Roman" panose="02020603050405020304" pitchFamily="18" charset="0"/>
                <a:cs typeface="Times New Roman" panose="02020603050405020304" pitchFamily="18" charset="0"/>
              </a:rPr>
              <a:t> – A real time Doctor and patient Consultation Summarizer</a:t>
            </a:r>
          </a:p>
          <a:p>
            <a:pPr algn="ctr"/>
            <a:endParaRPr lang="en-US" sz="3600" b="1" dirty="0">
              <a:solidFill>
                <a:schemeClr val="bg2"/>
              </a:solidFill>
              <a:latin typeface="Times New Roman" panose="02020603050405020304" pitchFamily="18" charset="0"/>
              <a:cs typeface="Times New Roman" panose="02020603050405020304" pitchFamily="18" charset="0"/>
            </a:endParaRPr>
          </a:p>
        </p:txBody>
      </p:sp>
      <p:pic>
        <p:nvPicPr>
          <p:cNvPr id="8" name="Picture 7" descr="Logo">
            <a:extLst>
              <a:ext uri="{FF2B5EF4-FFF2-40B4-BE49-F238E27FC236}">
                <a16:creationId xmlns:a16="http://schemas.microsoft.com/office/drawing/2014/main" id="{3EAE5857-1A11-0CF2-2671-8C1E6B254A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10" name="Rectangle 9">
            <a:extLst>
              <a:ext uri="{FF2B5EF4-FFF2-40B4-BE49-F238E27FC236}">
                <a16:creationId xmlns:a16="http://schemas.microsoft.com/office/drawing/2014/main" id="{D1B8FC9C-9981-D230-5221-86F073461F3B}"/>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Group- 07,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B885751-EF5D-1072-67A5-BA1712BD7FFE}"/>
              </a:ext>
            </a:extLst>
          </p:cNvPr>
          <p:cNvSpPr txBox="1"/>
          <p:nvPr/>
        </p:nvSpPr>
        <p:spPr>
          <a:xfrm>
            <a:off x="334929" y="746820"/>
            <a:ext cx="6236022" cy="1154162"/>
          </a:xfrm>
          <a:prstGeom prst="rect">
            <a:avLst/>
          </a:prstGeom>
          <a:noFill/>
        </p:spPr>
        <p:txBody>
          <a:bodyPr wrap="square" rtlCol="0">
            <a:spAutoFit/>
          </a:bodyPr>
          <a:lstStyle/>
          <a:p>
            <a:pPr algn="ctr"/>
            <a:r>
              <a:rPr lang="en-US" sz="2400" b="1" dirty="0">
                <a:solidFill>
                  <a:schemeClr val="bg2"/>
                </a:solidFill>
                <a:latin typeface="Times New Roman" panose="02020603050405020304" pitchFamily="18" charset="0"/>
                <a:cs typeface="Times New Roman" panose="02020603050405020304" pitchFamily="18" charset="0"/>
              </a:rPr>
              <a:t>Vishwakarma Institute Of Information Technology</a:t>
            </a:r>
          </a:p>
          <a:p>
            <a:pPr algn="ctr"/>
            <a:endParaRPr lang="en-US" sz="1050" b="1" dirty="0">
              <a:solidFill>
                <a:schemeClr val="bg2"/>
              </a:solidFill>
              <a:latin typeface="Times New Roman" panose="02020603050405020304" pitchFamily="18" charset="0"/>
              <a:cs typeface="Times New Roman" panose="02020603050405020304" pitchFamily="18" charset="0"/>
            </a:endParaRPr>
          </a:p>
          <a:p>
            <a:pPr algn="ctr"/>
            <a:r>
              <a:rPr lang="en-US" sz="1050" b="1" dirty="0">
                <a:solidFill>
                  <a:schemeClr val="bg2"/>
                </a:solidFill>
                <a:latin typeface="Times New Roman" panose="02020603050405020304" pitchFamily="18" charset="0"/>
                <a:cs typeface="Times New Roman" panose="02020603050405020304" pitchFamily="18" charset="0"/>
              </a:rPr>
              <a:t>(An Autonomous Institute affiliated to Savitribai Phule Pune University)</a:t>
            </a:r>
            <a:endParaRPr lang="en-IN" sz="1050" b="1" dirty="0">
              <a:solidFill>
                <a:schemeClr val="bg2"/>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7C86C16-71AA-EF80-44F2-810B0BEEF301}"/>
              </a:ext>
            </a:extLst>
          </p:cNvPr>
          <p:cNvSpPr txBox="1"/>
          <p:nvPr/>
        </p:nvSpPr>
        <p:spPr>
          <a:xfrm>
            <a:off x="1798010" y="285155"/>
            <a:ext cx="3149566" cy="461665"/>
          </a:xfrm>
          <a:prstGeom prst="rect">
            <a:avLst/>
          </a:prstGeom>
          <a:noFill/>
        </p:spPr>
        <p:txBody>
          <a:bodyPr wrap="square" rtlCol="0">
            <a:spAutoFit/>
          </a:bodyPr>
          <a:lstStyle/>
          <a:p>
            <a:pPr algn="ctr"/>
            <a:r>
              <a:rPr lang="en-US" sz="2400" b="1" dirty="0">
                <a:solidFill>
                  <a:schemeClr val="bg2"/>
                </a:solidFill>
                <a:latin typeface="Times New Roman" panose="02020603050405020304" pitchFamily="18" charset="0"/>
                <a:cs typeface="Times New Roman" panose="02020603050405020304" pitchFamily="18" charset="0"/>
              </a:rPr>
              <a:t>BRACT’S</a:t>
            </a:r>
            <a:endParaRPr lang="en-IN" sz="2400" b="1" dirty="0">
              <a:solidFill>
                <a:schemeClr val="bg2"/>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6C44924-1477-2EE2-84E5-D29F67A86FB5}"/>
              </a:ext>
            </a:extLst>
          </p:cNvPr>
          <p:cNvSpPr txBox="1"/>
          <p:nvPr/>
        </p:nvSpPr>
        <p:spPr>
          <a:xfrm>
            <a:off x="5123329" y="6020658"/>
            <a:ext cx="2474259" cy="369332"/>
          </a:xfrm>
          <a:prstGeom prst="rect">
            <a:avLst/>
          </a:prstGeom>
          <a:noFill/>
        </p:spPr>
        <p:txBody>
          <a:bodyPr wrap="square" rtlCol="0">
            <a:spAutoFit/>
          </a:bodyPr>
          <a:lstStyle/>
          <a:p>
            <a:r>
              <a:rPr lang="en-US" dirty="0">
                <a:solidFill>
                  <a:schemeClr val="bg2"/>
                </a:solidFill>
                <a:latin typeface="Times New Roman" panose="02020603050405020304" pitchFamily="18" charset="0"/>
                <a:cs typeface="Times New Roman" panose="02020603050405020304" pitchFamily="18" charset="0"/>
              </a:rPr>
              <a:t>Presented by Group 07</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21" name="Slide Number Placeholder 25">
            <a:extLst>
              <a:ext uri="{FF2B5EF4-FFF2-40B4-BE49-F238E27FC236}">
                <a16:creationId xmlns:a16="http://schemas.microsoft.com/office/drawing/2014/main" id="{2F8B768F-4592-4D40-2CD8-3E9E00BA329A}"/>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bg2"/>
                </a:solidFill>
              </a:rPr>
              <a:pPr/>
              <a:t>1</a:t>
            </a:fld>
            <a:endParaRPr lang="en-IN" dirty="0">
              <a:solidFill>
                <a:schemeClr val="bg2"/>
              </a:solidFill>
            </a:endParaRPr>
          </a:p>
        </p:txBody>
      </p:sp>
    </p:spTree>
    <p:extLst>
      <p:ext uri="{BB962C8B-B14F-4D97-AF65-F5344CB8AC3E}">
        <p14:creationId xmlns:p14="http://schemas.microsoft.com/office/powerpoint/2010/main" val="333119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childTnLst>
                          </p:cTn>
                        </p:par>
                        <p:par>
                          <p:cTn id="15" fill="hold">
                            <p:stCondLst>
                              <p:cond delay="500"/>
                            </p:stCondLst>
                            <p:childTnLst>
                              <p:par>
                                <p:cTn id="16" presetID="53" presetClass="entr" presetSubtype="16" fill="hold" grpId="0" nodeType="afterEffect">
                                  <p:stCondLst>
                                    <p:cond delay="30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childTnLst>
                          </p:cTn>
                        </p:par>
                        <p:par>
                          <p:cTn id="21" fill="hold">
                            <p:stCondLst>
                              <p:cond delay="1300"/>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par>
                          <p:cTn id="27" fill="hold">
                            <p:stCondLst>
                              <p:cond delay="1800"/>
                            </p:stCondLst>
                            <p:childTnLst>
                              <p:par>
                                <p:cTn id="28" presetID="53" presetClass="entr" presetSubtype="16"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4"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4921762" y="302722"/>
            <a:ext cx="1704508" cy="58925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9" name="Straight Connector 78"/>
          <p:cNvCxnSpPr>
            <a:endCxn id="22" idx="3"/>
          </p:cNvCxnSpPr>
          <p:nvPr/>
        </p:nvCxnSpPr>
        <p:spPr>
          <a:xfrm flipH="1" flipV="1">
            <a:off x="10882232" y="3394180"/>
            <a:ext cx="1297202" cy="527006"/>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1" y="3367691"/>
            <a:ext cx="1309767" cy="707536"/>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3" idx="6"/>
            <a:endCxn id="18" idx="1"/>
          </p:cNvCxnSpPr>
          <p:nvPr/>
        </p:nvCxnSpPr>
        <p:spPr>
          <a:xfrm flipV="1">
            <a:off x="4359489" y="3447606"/>
            <a:ext cx="2054927" cy="1161744"/>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9" idx="2"/>
            <a:endCxn id="17" idx="5"/>
          </p:cNvCxnSpPr>
          <p:nvPr/>
        </p:nvCxnSpPr>
        <p:spPr>
          <a:xfrm flipH="1" flipV="1">
            <a:off x="6814126" y="3626739"/>
            <a:ext cx="1560932" cy="914407"/>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8939272" y="3424127"/>
            <a:ext cx="1680503" cy="1101747"/>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3" idx="2"/>
            <a:endCxn id="2" idx="6"/>
          </p:cNvCxnSpPr>
          <p:nvPr/>
        </p:nvCxnSpPr>
        <p:spPr>
          <a:xfrm flipH="1" flipV="1">
            <a:off x="1682966" y="3388825"/>
            <a:ext cx="1956523" cy="1220525"/>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sp>
        <p:nvSpPr>
          <p:cNvPr id="4" name="TextBox 3"/>
          <p:cNvSpPr txBox="1">
            <a:spLocks/>
          </p:cNvSpPr>
          <p:nvPr/>
        </p:nvSpPr>
        <p:spPr>
          <a:xfrm>
            <a:off x="4447516" y="169275"/>
            <a:ext cx="3972997" cy="830997"/>
          </a:xfrm>
          <a:prstGeom prst="rect">
            <a:avLst/>
          </a:prstGeom>
          <a:noFill/>
        </p:spPr>
        <p:txBody>
          <a:bodyPr wrap="square" rtlCol="0">
            <a:spAutoFit/>
          </a:bodyPr>
          <a:lstStyle/>
          <a:p>
            <a:pPr algn="ctr"/>
            <a:r>
              <a:rPr lang="en-US" sz="4800" dirty="0">
                <a:solidFill>
                  <a:schemeClr val="bg1"/>
                </a:solidFill>
                <a:latin typeface="Times New Roman" panose="02020603050405020304" pitchFamily="18" charset="0"/>
                <a:cs typeface="Times New Roman" panose="02020603050405020304" pitchFamily="18" charset="0"/>
              </a:rPr>
              <a:t>ROAD</a:t>
            </a:r>
            <a:r>
              <a:rPr lang="en-US" sz="4800" dirty="0">
                <a:solidFill>
                  <a:schemeClr val="tx1">
                    <a:lumMod val="50000"/>
                    <a:lumOff val="50000"/>
                  </a:schemeClr>
                </a:solidFill>
                <a:latin typeface="Times New Roman" panose="02020603050405020304" pitchFamily="18" charset="0"/>
                <a:cs typeface="Times New Roman" panose="02020603050405020304" pitchFamily="18" charset="0"/>
              </a:rPr>
              <a:t>MAP</a:t>
            </a:r>
          </a:p>
        </p:txBody>
      </p:sp>
      <p:grpSp>
        <p:nvGrpSpPr>
          <p:cNvPr id="5" name="Group 4"/>
          <p:cNvGrpSpPr/>
          <p:nvPr/>
        </p:nvGrpSpPr>
        <p:grpSpPr>
          <a:xfrm>
            <a:off x="5017141" y="949827"/>
            <a:ext cx="1434489" cy="190500"/>
            <a:chOff x="4679586" y="878988"/>
            <a:chExt cx="1434489" cy="190500"/>
          </a:xfrm>
        </p:grpSpPr>
        <p:sp>
          <p:nvSpPr>
            <p:cNvPr id="6" name="Oval 5"/>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p:cNvSpPr/>
          <p:nvPr/>
        </p:nvSpPr>
        <p:spPr>
          <a:xfrm>
            <a:off x="1094486" y="3094585"/>
            <a:ext cx="588480" cy="588480"/>
          </a:xfrm>
          <a:prstGeom prst="ellipse">
            <a:avLst/>
          </a:prstGeom>
          <a:solidFill>
            <a:srgbClr val="EF3078"/>
          </a:solidFill>
          <a:ln>
            <a:noFill/>
          </a:ln>
          <a:effectLst>
            <a:outerShdw blurRad="762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214815" y="3089652"/>
            <a:ext cx="383303" cy="646331"/>
          </a:xfrm>
          <a:prstGeom prst="rect">
            <a:avLst/>
          </a:prstGeom>
          <a:noFill/>
          <a:effectLst>
            <a:outerShdw blurRad="63500" sx="105000" sy="105000" algn="ctr" rotWithShape="0">
              <a:prstClr val="black">
                <a:alpha val="40000"/>
              </a:prstClr>
            </a:outerShdw>
          </a:effectLst>
        </p:spPr>
        <p:txBody>
          <a:bodyPr wrap="square" rtlCol="0">
            <a:spAutoFit/>
          </a:bodyPr>
          <a:lstStyle/>
          <a:p>
            <a:pPr algn="ctr"/>
            <a:r>
              <a:rPr lang="en-US" sz="3600" b="1" dirty="0">
                <a:solidFill>
                  <a:srgbClr val="E3E3E3"/>
                </a:solidFill>
                <a:latin typeface="Tw Cen MT" panose="020B0602020104020603" pitchFamily="34" charset="0"/>
              </a:rPr>
              <a:t>1</a:t>
            </a:r>
          </a:p>
        </p:txBody>
      </p:sp>
      <p:sp>
        <p:nvSpPr>
          <p:cNvPr id="13" name="Oval 12"/>
          <p:cNvSpPr/>
          <p:nvPr/>
        </p:nvSpPr>
        <p:spPr>
          <a:xfrm>
            <a:off x="3639489" y="4249350"/>
            <a:ext cx="720000" cy="720000"/>
          </a:xfrm>
          <a:prstGeom prst="ellipse">
            <a:avLst/>
          </a:prstGeom>
          <a:solidFill>
            <a:srgbClr val="03A1A4"/>
          </a:solidFill>
          <a:ln>
            <a:noFill/>
          </a:ln>
          <a:effectLst>
            <a:outerShdw blurRad="762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820846" y="4297919"/>
            <a:ext cx="359466" cy="646331"/>
          </a:xfrm>
          <a:prstGeom prst="rect">
            <a:avLst/>
          </a:prstGeom>
          <a:noFill/>
          <a:effectLst>
            <a:outerShdw blurRad="63500" sx="105000" sy="105000" algn="ctr" rotWithShape="0">
              <a:prstClr val="black">
                <a:alpha val="40000"/>
              </a:prstClr>
            </a:outerShdw>
          </a:effectLst>
        </p:spPr>
        <p:txBody>
          <a:bodyPr wrap="square" rtlCol="0">
            <a:spAutoFit/>
          </a:bodyPr>
          <a:lstStyle/>
          <a:p>
            <a:pPr algn="ctr"/>
            <a:r>
              <a:rPr lang="en-US" sz="3600" b="1" dirty="0">
                <a:solidFill>
                  <a:srgbClr val="E3E3E3"/>
                </a:solidFill>
                <a:latin typeface="Tw Cen MT" panose="020B0602020104020603" pitchFamily="34" charset="0"/>
              </a:rPr>
              <a:t>2</a:t>
            </a:r>
          </a:p>
        </p:txBody>
      </p:sp>
      <p:sp>
        <p:nvSpPr>
          <p:cNvPr id="17" name="Oval 16"/>
          <p:cNvSpPr/>
          <p:nvPr/>
        </p:nvSpPr>
        <p:spPr>
          <a:xfrm>
            <a:off x="6311827" y="3124440"/>
            <a:ext cx="588480" cy="588480"/>
          </a:xfrm>
          <a:prstGeom prst="ellipse">
            <a:avLst/>
          </a:prstGeom>
          <a:solidFill>
            <a:srgbClr val="385723"/>
          </a:solidFill>
          <a:ln>
            <a:noFill/>
          </a:ln>
          <a:effectLst>
            <a:outerShdw blurRad="762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414416" y="3124440"/>
            <a:ext cx="383303" cy="646331"/>
          </a:xfrm>
          <a:prstGeom prst="rect">
            <a:avLst/>
          </a:prstGeom>
          <a:noFill/>
          <a:effectLst>
            <a:outerShdw blurRad="63500" sx="105000" sy="105000" algn="ctr" rotWithShape="0">
              <a:prstClr val="black">
                <a:alpha val="40000"/>
              </a:prstClr>
            </a:outerShdw>
          </a:effectLst>
        </p:spPr>
        <p:txBody>
          <a:bodyPr wrap="square" rtlCol="0">
            <a:spAutoFit/>
          </a:bodyPr>
          <a:lstStyle/>
          <a:p>
            <a:pPr algn="ctr"/>
            <a:r>
              <a:rPr lang="en-US" sz="3600" b="1" dirty="0">
                <a:solidFill>
                  <a:srgbClr val="E3E3E3"/>
                </a:solidFill>
                <a:latin typeface="Tw Cen MT" panose="020B0602020104020603" pitchFamily="34" charset="0"/>
              </a:rPr>
              <a:t>3</a:t>
            </a:r>
          </a:p>
        </p:txBody>
      </p:sp>
      <p:sp>
        <p:nvSpPr>
          <p:cNvPr id="19" name="Oval 18"/>
          <p:cNvSpPr/>
          <p:nvPr/>
        </p:nvSpPr>
        <p:spPr>
          <a:xfrm>
            <a:off x="8375058" y="4289146"/>
            <a:ext cx="588480" cy="504000"/>
          </a:xfrm>
          <a:prstGeom prst="ellipse">
            <a:avLst/>
          </a:prstGeom>
          <a:solidFill>
            <a:srgbClr val="00B0F0"/>
          </a:solidFill>
          <a:ln>
            <a:noFill/>
          </a:ln>
          <a:effectLst>
            <a:outerShdw blurRad="762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8499717" y="4228068"/>
            <a:ext cx="339161" cy="647933"/>
          </a:xfrm>
          <a:prstGeom prst="rect">
            <a:avLst/>
          </a:prstGeom>
          <a:noFill/>
          <a:effectLst>
            <a:outerShdw blurRad="63500" sx="105000" sy="105000" algn="ctr" rotWithShape="0">
              <a:prstClr val="black">
                <a:alpha val="40000"/>
              </a:prstClr>
            </a:outerShdw>
          </a:effectLst>
        </p:spPr>
        <p:txBody>
          <a:bodyPr wrap="square" rtlCol="0">
            <a:spAutoFit/>
          </a:bodyPr>
          <a:lstStyle/>
          <a:p>
            <a:pPr algn="ctr"/>
            <a:r>
              <a:rPr lang="en-US" sz="3600" b="1" dirty="0">
                <a:solidFill>
                  <a:srgbClr val="E3E3E3"/>
                </a:solidFill>
                <a:latin typeface="Tw Cen MT" panose="020B0602020104020603" pitchFamily="34" charset="0"/>
              </a:rPr>
              <a:t>4</a:t>
            </a:r>
          </a:p>
        </p:txBody>
      </p:sp>
      <p:sp>
        <p:nvSpPr>
          <p:cNvPr id="21" name="Oval 20"/>
          <p:cNvSpPr/>
          <p:nvPr/>
        </p:nvSpPr>
        <p:spPr>
          <a:xfrm>
            <a:off x="10396341" y="3099940"/>
            <a:ext cx="588480" cy="588480"/>
          </a:xfrm>
          <a:prstGeom prst="ellipse">
            <a:avLst/>
          </a:prstGeom>
          <a:solidFill>
            <a:srgbClr val="EF3078"/>
          </a:solidFill>
          <a:ln>
            <a:noFill/>
          </a:ln>
          <a:effectLst>
            <a:outerShdw blurRad="762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0498929" y="3071014"/>
            <a:ext cx="383303" cy="646331"/>
          </a:xfrm>
          <a:prstGeom prst="rect">
            <a:avLst/>
          </a:prstGeom>
          <a:noFill/>
          <a:effectLst>
            <a:outerShdw blurRad="63500" sx="105000" sy="105000" algn="ctr" rotWithShape="0">
              <a:prstClr val="black">
                <a:alpha val="40000"/>
              </a:prstClr>
            </a:outerShdw>
          </a:effectLst>
        </p:spPr>
        <p:txBody>
          <a:bodyPr wrap="square" rtlCol="0">
            <a:spAutoFit/>
          </a:bodyPr>
          <a:lstStyle/>
          <a:p>
            <a:pPr algn="ctr"/>
            <a:r>
              <a:rPr lang="en-US" sz="3600" b="1" dirty="0">
                <a:solidFill>
                  <a:srgbClr val="E3E3E3"/>
                </a:solidFill>
                <a:latin typeface="Tw Cen MT" panose="020B0602020104020603" pitchFamily="34" charset="0"/>
              </a:rPr>
              <a:t>5</a:t>
            </a:r>
          </a:p>
        </p:txBody>
      </p:sp>
      <p:grpSp>
        <p:nvGrpSpPr>
          <p:cNvPr id="96" name="Group 95"/>
          <p:cNvGrpSpPr/>
          <p:nvPr/>
        </p:nvGrpSpPr>
        <p:grpSpPr>
          <a:xfrm>
            <a:off x="332686" y="2113428"/>
            <a:ext cx="2160306" cy="929367"/>
            <a:chOff x="378640" y="3809602"/>
            <a:chExt cx="2160306" cy="929367"/>
          </a:xfrm>
        </p:grpSpPr>
        <p:sp>
          <p:nvSpPr>
            <p:cNvPr id="83" name="TextBox 82"/>
            <p:cNvSpPr txBox="1"/>
            <p:nvPr/>
          </p:nvSpPr>
          <p:spPr>
            <a:xfrm>
              <a:off x="378640" y="3809602"/>
              <a:ext cx="2126507" cy="400110"/>
            </a:xfrm>
            <a:prstGeom prst="rect">
              <a:avLst/>
            </a:prstGeom>
            <a:noFill/>
          </p:spPr>
          <p:txBody>
            <a:bodyPr wrap="square" rtlCol="0">
              <a:spAutoFit/>
            </a:bodyPr>
            <a:lstStyle/>
            <a:p>
              <a:pPr algn="ctr"/>
              <a:r>
                <a:rPr lang="en-US" sz="2000" b="1" dirty="0">
                  <a:solidFill>
                    <a:srgbClr val="EF3078"/>
                  </a:solidFill>
                  <a:latin typeface="Tw Cen MT" panose="020B0602020104020603" pitchFamily="34" charset="0"/>
                </a:rPr>
                <a:t>OBJECTIVE </a:t>
              </a:r>
            </a:p>
          </p:txBody>
        </p:sp>
        <p:sp>
          <p:nvSpPr>
            <p:cNvPr id="84" name="TextBox 83"/>
            <p:cNvSpPr txBox="1"/>
            <p:nvPr/>
          </p:nvSpPr>
          <p:spPr>
            <a:xfrm>
              <a:off x="412439" y="4154194"/>
              <a:ext cx="2126507" cy="584775"/>
            </a:xfrm>
            <a:prstGeom prst="rect">
              <a:avLst/>
            </a:prstGeom>
            <a:noFill/>
          </p:spPr>
          <p:txBody>
            <a:bodyPr wrap="square" rtlCol="0">
              <a:spAutoFit/>
            </a:bodyPr>
            <a:lstStyle/>
            <a:p>
              <a:pPr algn="ctr"/>
              <a:r>
                <a:rPr lang="en-US" sz="1600" b="1" dirty="0">
                  <a:solidFill>
                    <a:schemeClr val="tx1">
                      <a:lumMod val="75000"/>
                      <a:lumOff val="25000"/>
                    </a:schemeClr>
                  </a:solidFill>
                  <a:latin typeface="Tw Cen MT" panose="020B0602020104020603" pitchFamily="34" charset="0"/>
                </a:rPr>
                <a:t>Understanding the basic objective</a:t>
              </a:r>
            </a:p>
          </p:txBody>
        </p:sp>
      </p:grpSp>
      <p:grpSp>
        <p:nvGrpSpPr>
          <p:cNvPr id="97" name="Group 96"/>
          <p:cNvGrpSpPr/>
          <p:nvPr/>
        </p:nvGrpSpPr>
        <p:grpSpPr>
          <a:xfrm>
            <a:off x="2825923" y="5019901"/>
            <a:ext cx="2502368" cy="944775"/>
            <a:chOff x="2146568" y="2822499"/>
            <a:chExt cx="2502368" cy="944775"/>
          </a:xfrm>
        </p:grpSpPr>
        <p:sp>
          <p:nvSpPr>
            <p:cNvPr id="85" name="TextBox 84"/>
            <p:cNvSpPr txBox="1"/>
            <p:nvPr/>
          </p:nvSpPr>
          <p:spPr>
            <a:xfrm>
              <a:off x="2146568" y="2822499"/>
              <a:ext cx="2502368" cy="400110"/>
            </a:xfrm>
            <a:prstGeom prst="rect">
              <a:avLst/>
            </a:prstGeom>
            <a:noFill/>
          </p:spPr>
          <p:txBody>
            <a:bodyPr wrap="square" rtlCol="0">
              <a:spAutoFit/>
            </a:bodyPr>
            <a:lstStyle/>
            <a:p>
              <a:pPr algn="ctr"/>
              <a:r>
                <a:rPr lang="en-US" sz="2000" b="1" dirty="0">
                  <a:solidFill>
                    <a:srgbClr val="03A1A4"/>
                  </a:solidFill>
                  <a:latin typeface="Tw Cen MT" panose="020B0602020104020603" pitchFamily="34" charset="0"/>
                </a:rPr>
                <a:t>LITERATURE SURVEY</a:t>
              </a:r>
            </a:p>
          </p:txBody>
        </p:sp>
        <p:sp>
          <p:nvSpPr>
            <p:cNvPr id="86" name="TextBox 85"/>
            <p:cNvSpPr txBox="1"/>
            <p:nvPr/>
          </p:nvSpPr>
          <p:spPr>
            <a:xfrm>
              <a:off x="2334498" y="3182499"/>
              <a:ext cx="2126507" cy="584775"/>
            </a:xfrm>
            <a:prstGeom prst="rect">
              <a:avLst/>
            </a:prstGeom>
            <a:noFill/>
          </p:spPr>
          <p:txBody>
            <a:bodyPr wrap="square" rtlCol="0">
              <a:spAutoFit/>
            </a:bodyPr>
            <a:lstStyle/>
            <a:p>
              <a:pPr algn="ctr"/>
              <a:r>
                <a:rPr lang="en-US" sz="1600" b="1" dirty="0">
                  <a:solidFill>
                    <a:schemeClr val="tx1">
                      <a:lumMod val="75000"/>
                      <a:lumOff val="25000"/>
                    </a:schemeClr>
                  </a:solidFill>
                  <a:latin typeface="Tw Cen MT" panose="020B0602020104020603" pitchFamily="34" charset="0"/>
                </a:rPr>
                <a:t>Existing technology and researches</a:t>
              </a:r>
            </a:p>
          </p:txBody>
        </p:sp>
      </p:grpSp>
      <p:grpSp>
        <p:nvGrpSpPr>
          <p:cNvPr id="101" name="Group 100"/>
          <p:cNvGrpSpPr/>
          <p:nvPr/>
        </p:nvGrpSpPr>
        <p:grpSpPr>
          <a:xfrm>
            <a:off x="5366378" y="2037972"/>
            <a:ext cx="2479375" cy="924885"/>
            <a:chOff x="5983508" y="2900928"/>
            <a:chExt cx="2479375" cy="924885"/>
          </a:xfrm>
        </p:grpSpPr>
        <p:sp>
          <p:nvSpPr>
            <p:cNvPr id="90" name="TextBox 89"/>
            <p:cNvSpPr txBox="1"/>
            <p:nvPr/>
          </p:nvSpPr>
          <p:spPr>
            <a:xfrm>
              <a:off x="5983508" y="2900928"/>
              <a:ext cx="2479375" cy="400110"/>
            </a:xfrm>
            <a:prstGeom prst="rect">
              <a:avLst/>
            </a:prstGeom>
            <a:noFill/>
          </p:spPr>
          <p:txBody>
            <a:bodyPr wrap="square" rtlCol="0">
              <a:spAutoFit/>
            </a:bodyPr>
            <a:lstStyle/>
            <a:p>
              <a:pPr algn="ctr"/>
              <a:r>
                <a:rPr lang="en-US" sz="2000" b="1" dirty="0">
                  <a:solidFill>
                    <a:srgbClr val="385723"/>
                  </a:solidFill>
                  <a:latin typeface="Tw Cen MT" panose="020B0602020104020603" pitchFamily="34" charset="0"/>
                </a:rPr>
                <a:t>METHODOLOGY</a:t>
              </a:r>
            </a:p>
          </p:txBody>
        </p:sp>
        <p:sp>
          <p:nvSpPr>
            <p:cNvPr id="91" name="TextBox 90"/>
            <p:cNvSpPr txBox="1"/>
            <p:nvPr/>
          </p:nvSpPr>
          <p:spPr>
            <a:xfrm>
              <a:off x="6159943" y="3241038"/>
              <a:ext cx="2126507" cy="584775"/>
            </a:xfrm>
            <a:prstGeom prst="rect">
              <a:avLst/>
            </a:prstGeom>
            <a:noFill/>
          </p:spPr>
          <p:txBody>
            <a:bodyPr wrap="square" rtlCol="0">
              <a:spAutoFit/>
            </a:bodyPr>
            <a:lstStyle/>
            <a:p>
              <a:pPr algn="ctr"/>
              <a:r>
                <a:rPr lang="en-US" sz="1600" b="1" dirty="0">
                  <a:solidFill>
                    <a:schemeClr val="tx1">
                      <a:lumMod val="75000"/>
                      <a:lumOff val="25000"/>
                    </a:schemeClr>
                  </a:solidFill>
                  <a:latin typeface="Tw Cen MT" panose="020B0602020104020603" pitchFamily="34" charset="0"/>
                </a:rPr>
                <a:t>Explanation of detailed work base</a:t>
              </a:r>
            </a:p>
          </p:txBody>
        </p:sp>
      </p:grpSp>
      <p:sp>
        <p:nvSpPr>
          <p:cNvPr id="92" name="TextBox 91"/>
          <p:cNvSpPr txBox="1"/>
          <p:nvPr/>
        </p:nvSpPr>
        <p:spPr>
          <a:xfrm>
            <a:off x="7653016" y="3765911"/>
            <a:ext cx="2126507" cy="400110"/>
          </a:xfrm>
          <a:prstGeom prst="rect">
            <a:avLst/>
          </a:prstGeom>
          <a:noFill/>
        </p:spPr>
        <p:txBody>
          <a:bodyPr wrap="square" rtlCol="0">
            <a:spAutoFit/>
          </a:bodyPr>
          <a:lstStyle/>
          <a:p>
            <a:pPr algn="ctr"/>
            <a:r>
              <a:rPr lang="en-US" sz="2000" b="1" dirty="0">
                <a:solidFill>
                  <a:srgbClr val="00B0F0"/>
                </a:solidFill>
                <a:latin typeface="Tw Cen MT" panose="020B0602020104020603" pitchFamily="34" charset="0"/>
              </a:rPr>
              <a:t> </a:t>
            </a:r>
          </a:p>
        </p:txBody>
      </p:sp>
      <p:grpSp>
        <p:nvGrpSpPr>
          <p:cNvPr id="103" name="Group 102"/>
          <p:cNvGrpSpPr/>
          <p:nvPr/>
        </p:nvGrpSpPr>
        <p:grpSpPr>
          <a:xfrm>
            <a:off x="9418278" y="1972798"/>
            <a:ext cx="2402991" cy="918847"/>
            <a:chOff x="9535787" y="2471816"/>
            <a:chExt cx="2402991" cy="918847"/>
          </a:xfrm>
        </p:grpSpPr>
        <p:sp>
          <p:nvSpPr>
            <p:cNvPr id="94" name="TextBox 93"/>
            <p:cNvSpPr txBox="1"/>
            <p:nvPr/>
          </p:nvSpPr>
          <p:spPr>
            <a:xfrm>
              <a:off x="9535787" y="2471816"/>
              <a:ext cx="2402991" cy="400110"/>
            </a:xfrm>
            <a:prstGeom prst="rect">
              <a:avLst/>
            </a:prstGeom>
            <a:noFill/>
          </p:spPr>
          <p:txBody>
            <a:bodyPr wrap="square" rtlCol="0">
              <a:spAutoFit/>
            </a:bodyPr>
            <a:lstStyle/>
            <a:p>
              <a:pPr algn="ctr"/>
              <a:r>
                <a:rPr lang="en-US" sz="2000" b="1" dirty="0">
                  <a:solidFill>
                    <a:srgbClr val="EF3078"/>
                  </a:solidFill>
                  <a:latin typeface="Tw Cen MT" panose="020B0602020104020603" pitchFamily="34" charset="0"/>
                </a:rPr>
                <a:t>Future scope</a:t>
              </a:r>
            </a:p>
          </p:txBody>
        </p:sp>
        <p:sp>
          <p:nvSpPr>
            <p:cNvPr id="95" name="TextBox 94"/>
            <p:cNvSpPr txBox="1"/>
            <p:nvPr/>
          </p:nvSpPr>
          <p:spPr>
            <a:xfrm>
              <a:off x="9674030" y="2805888"/>
              <a:ext cx="2126507" cy="584775"/>
            </a:xfrm>
            <a:prstGeom prst="rect">
              <a:avLst/>
            </a:prstGeom>
            <a:noFill/>
          </p:spPr>
          <p:txBody>
            <a:bodyPr wrap="square" rtlCol="0">
              <a:spAutoFit/>
            </a:bodyPr>
            <a:lstStyle/>
            <a:p>
              <a:pPr algn="ctr"/>
              <a:r>
                <a:rPr lang="en-US" sz="1600" b="1" dirty="0">
                  <a:solidFill>
                    <a:schemeClr val="tx1">
                      <a:lumMod val="75000"/>
                      <a:lumOff val="25000"/>
                    </a:schemeClr>
                  </a:solidFill>
                  <a:latin typeface="Tw Cen MT" panose="020B0602020104020603" pitchFamily="34" charset="0"/>
                </a:rPr>
                <a:t>The future use and scopes of the project</a:t>
              </a:r>
            </a:p>
          </p:txBody>
        </p:sp>
      </p:grpSp>
      <p:grpSp>
        <p:nvGrpSpPr>
          <p:cNvPr id="12" name="Group 11">
            <a:extLst>
              <a:ext uri="{FF2B5EF4-FFF2-40B4-BE49-F238E27FC236}">
                <a16:creationId xmlns:a16="http://schemas.microsoft.com/office/drawing/2014/main" id="{9C321143-AD7C-EAEC-F938-26B4AD8EA2A3}"/>
              </a:ext>
            </a:extLst>
          </p:cNvPr>
          <p:cNvGrpSpPr/>
          <p:nvPr/>
        </p:nvGrpSpPr>
        <p:grpSpPr>
          <a:xfrm>
            <a:off x="7429609" y="4902861"/>
            <a:ext cx="2479375" cy="1180349"/>
            <a:chOff x="5964073" y="2650313"/>
            <a:chExt cx="2479375" cy="1180349"/>
          </a:xfrm>
        </p:grpSpPr>
        <p:sp>
          <p:nvSpPr>
            <p:cNvPr id="15" name="TextBox 14">
              <a:extLst>
                <a:ext uri="{FF2B5EF4-FFF2-40B4-BE49-F238E27FC236}">
                  <a16:creationId xmlns:a16="http://schemas.microsoft.com/office/drawing/2014/main" id="{E4B24864-A75D-BC5E-37D5-1983D4449F34}"/>
                </a:ext>
              </a:extLst>
            </p:cNvPr>
            <p:cNvSpPr txBox="1"/>
            <p:nvPr/>
          </p:nvSpPr>
          <p:spPr>
            <a:xfrm>
              <a:off x="5964073" y="2650313"/>
              <a:ext cx="2479375" cy="400110"/>
            </a:xfrm>
            <a:prstGeom prst="rect">
              <a:avLst/>
            </a:prstGeom>
            <a:noFill/>
          </p:spPr>
          <p:txBody>
            <a:bodyPr wrap="square" rtlCol="0">
              <a:spAutoFit/>
            </a:bodyPr>
            <a:lstStyle/>
            <a:p>
              <a:pPr algn="ctr"/>
              <a:r>
                <a:rPr lang="en-US" sz="2000" b="1" dirty="0">
                  <a:solidFill>
                    <a:srgbClr val="00B0F0"/>
                  </a:solidFill>
                  <a:latin typeface="Tw Cen MT" panose="020B0602020104020603" pitchFamily="34" charset="0"/>
                </a:rPr>
                <a:t>RESULTS</a:t>
              </a:r>
            </a:p>
          </p:txBody>
        </p:sp>
        <p:sp>
          <p:nvSpPr>
            <p:cNvPr id="16" name="TextBox 15">
              <a:extLst>
                <a:ext uri="{FF2B5EF4-FFF2-40B4-BE49-F238E27FC236}">
                  <a16:creationId xmlns:a16="http://schemas.microsoft.com/office/drawing/2014/main" id="{67FBDF6B-CA13-1027-E759-84FECAE767A7}"/>
                </a:ext>
              </a:extLst>
            </p:cNvPr>
            <p:cNvSpPr txBox="1"/>
            <p:nvPr/>
          </p:nvSpPr>
          <p:spPr>
            <a:xfrm>
              <a:off x="6120167" y="2999665"/>
              <a:ext cx="2261131" cy="830997"/>
            </a:xfrm>
            <a:prstGeom prst="rect">
              <a:avLst/>
            </a:prstGeom>
            <a:noFill/>
          </p:spPr>
          <p:txBody>
            <a:bodyPr wrap="square" rtlCol="0">
              <a:spAutoFit/>
            </a:bodyPr>
            <a:lstStyle/>
            <a:p>
              <a:pPr algn="ctr"/>
              <a:r>
                <a:rPr lang="en-US" sz="1600" b="1" dirty="0">
                  <a:solidFill>
                    <a:schemeClr val="tx1">
                      <a:lumMod val="75000"/>
                      <a:lumOff val="25000"/>
                    </a:schemeClr>
                  </a:solidFill>
                  <a:latin typeface="Tw Cen MT" panose="020B0602020104020603" pitchFamily="34" charset="0"/>
                </a:rPr>
                <a:t>Obtained results after following proposed methodology</a:t>
              </a:r>
            </a:p>
          </p:txBody>
        </p:sp>
      </p:grpSp>
      <p:pic>
        <p:nvPicPr>
          <p:cNvPr id="11" name="Picture 10" descr="Logo">
            <a:extLst>
              <a:ext uri="{FF2B5EF4-FFF2-40B4-BE49-F238E27FC236}">
                <a16:creationId xmlns:a16="http://schemas.microsoft.com/office/drawing/2014/main" id="{0CDD9C9F-DE77-D6B6-658D-9FE870970B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26" name="Slide Number Placeholder 25">
            <a:extLst>
              <a:ext uri="{FF2B5EF4-FFF2-40B4-BE49-F238E27FC236}">
                <a16:creationId xmlns:a16="http://schemas.microsoft.com/office/drawing/2014/main" id="{CEF1890F-97B0-B6A8-D124-562288F8B46B}"/>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2</a:t>
            </a:fld>
            <a:endParaRPr lang="en-IN" dirty="0">
              <a:solidFill>
                <a:schemeClr val="tx1"/>
              </a:solidFill>
            </a:endParaRPr>
          </a:p>
        </p:txBody>
      </p:sp>
      <p:sp>
        <p:nvSpPr>
          <p:cNvPr id="27" name="Rectangle 26">
            <a:extLst>
              <a:ext uri="{FF2B5EF4-FFF2-40B4-BE49-F238E27FC236}">
                <a16:creationId xmlns:a16="http://schemas.microsoft.com/office/drawing/2014/main" id="{A6824D02-A285-C164-7585-DB34FC9F9F97}"/>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500"/>
                                        <p:tgtEl>
                                          <p:spTgt spid="6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96"/>
                                        </p:tgtEl>
                                        <p:attrNameLst>
                                          <p:attrName>style.visibility</p:attrName>
                                        </p:attrNameLst>
                                      </p:cBhvr>
                                      <p:to>
                                        <p:strVal val="visible"/>
                                      </p:to>
                                    </p:set>
                                    <p:anim calcmode="lin" valueType="num">
                                      <p:cBhvr>
                                        <p:cTn id="23" dur="500" fill="hold"/>
                                        <p:tgtEl>
                                          <p:spTgt spid="96"/>
                                        </p:tgtEl>
                                        <p:attrNameLst>
                                          <p:attrName>ppt_w</p:attrName>
                                        </p:attrNameLst>
                                      </p:cBhvr>
                                      <p:tavLst>
                                        <p:tav tm="0">
                                          <p:val>
                                            <p:fltVal val="0"/>
                                          </p:val>
                                        </p:tav>
                                        <p:tav tm="100000">
                                          <p:val>
                                            <p:strVal val="#ppt_w"/>
                                          </p:val>
                                        </p:tav>
                                      </p:tavLst>
                                    </p:anim>
                                    <p:anim calcmode="lin" valueType="num">
                                      <p:cBhvr>
                                        <p:cTn id="24" dur="500" fill="hold"/>
                                        <p:tgtEl>
                                          <p:spTgt spid="96"/>
                                        </p:tgtEl>
                                        <p:attrNameLst>
                                          <p:attrName>ppt_h</p:attrName>
                                        </p:attrNameLst>
                                      </p:cBhvr>
                                      <p:tavLst>
                                        <p:tav tm="0">
                                          <p:val>
                                            <p:fltVal val="0"/>
                                          </p:val>
                                        </p:tav>
                                        <p:tav tm="100000">
                                          <p:val>
                                            <p:strVal val="#ppt_h"/>
                                          </p:val>
                                        </p:tav>
                                      </p:tavLst>
                                    </p:anim>
                                    <p:animEffect transition="in" filter="fade">
                                      <p:cBhvr>
                                        <p:cTn id="25" dur="500"/>
                                        <p:tgtEl>
                                          <p:spTgt spid="96"/>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500"/>
                                        <p:tgtEl>
                                          <p:spTgt spid="24"/>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childTnLst>
                          </p:cTn>
                        </p:par>
                        <p:par>
                          <p:cTn id="42" fill="hold">
                            <p:stCondLst>
                              <p:cond delay="3500"/>
                            </p:stCondLst>
                            <p:childTnLst>
                              <p:par>
                                <p:cTn id="43" presetID="53" presetClass="entr" presetSubtype="16" fill="hold" nodeType="afterEffect">
                                  <p:stCondLst>
                                    <p:cond delay="0"/>
                                  </p:stCondLst>
                                  <p:childTnLst>
                                    <p:set>
                                      <p:cBhvr>
                                        <p:cTn id="44" dur="1" fill="hold">
                                          <p:stCondLst>
                                            <p:cond delay="0"/>
                                          </p:stCondLst>
                                        </p:cTn>
                                        <p:tgtEl>
                                          <p:spTgt spid="97"/>
                                        </p:tgtEl>
                                        <p:attrNameLst>
                                          <p:attrName>style.visibility</p:attrName>
                                        </p:attrNameLst>
                                      </p:cBhvr>
                                      <p:to>
                                        <p:strVal val="visible"/>
                                      </p:to>
                                    </p:set>
                                    <p:anim calcmode="lin" valueType="num">
                                      <p:cBhvr>
                                        <p:cTn id="45" dur="500" fill="hold"/>
                                        <p:tgtEl>
                                          <p:spTgt spid="97"/>
                                        </p:tgtEl>
                                        <p:attrNameLst>
                                          <p:attrName>ppt_w</p:attrName>
                                        </p:attrNameLst>
                                      </p:cBhvr>
                                      <p:tavLst>
                                        <p:tav tm="0">
                                          <p:val>
                                            <p:fltVal val="0"/>
                                          </p:val>
                                        </p:tav>
                                        <p:tav tm="100000">
                                          <p:val>
                                            <p:strVal val="#ppt_w"/>
                                          </p:val>
                                        </p:tav>
                                      </p:tavLst>
                                    </p:anim>
                                    <p:anim calcmode="lin" valueType="num">
                                      <p:cBhvr>
                                        <p:cTn id="46" dur="500" fill="hold"/>
                                        <p:tgtEl>
                                          <p:spTgt spid="97"/>
                                        </p:tgtEl>
                                        <p:attrNameLst>
                                          <p:attrName>ppt_h</p:attrName>
                                        </p:attrNameLst>
                                      </p:cBhvr>
                                      <p:tavLst>
                                        <p:tav tm="0">
                                          <p:val>
                                            <p:fltVal val="0"/>
                                          </p:val>
                                        </p:tav>
                                        <p:tav tm="100000">
                                          <p:val>
                                            <p:strVal val="#ppt_h"/>
                                          </p:val>
                                        </p:tav>
                                      </p:tavLst>
                                    </p:anim>
                                    <p:animEffect transition="in" filter="fade">
                                      <p:cBhvr>
                                        <p:cTn id="47" dur="500"/>
                                        <p:tgtEl>
                                          <p:spTgt spid="97"/>
                                        </p:tgtEl>
                                      </p:cBhvr>
                                    </p:animEffect>
                                  </p:childTnLst>
                                </p:cTn>
                              </p:par>
                            </p:childTnLst>
                          </p:cTn>
                        </p:par>
                        <p:par>
                          <p:cTn id="48" fill="hold">
                            <p:stCondLst>
                              <p:cond delay="4000"/>
                            </p:stCondLst>
                            <p:childTnLst>
                              <p:par>
                                <p:cTn id="49" presetID="22" presetClass="entr" presetSubtype="4" fill="hold" nodeType="after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wipe(down)">
                                      <p:cBhvr>
                                        <p:cTn id="51" dur="500"/>
                                        <p:tgtEl>
                                          <p:spTgt spid="39"/>
                                        </p:tgtEl>
                                      </p:cBhvr>
                                    </p:animEffect>
                                  </p:childTnLst>
                                </p:cTn>
                              </p:par>
                            </p:childTnLst>
                          </p:cTn>
                        </p:par>
                        <p:par>
                          <p:cTn id="52" fill="hold">
                            <p:stCondLst>
                              <p:cond delay="4500"/>
                            </p:stCondLst>
                            <p:childTnLst>
                              <p:par>
                                <p:cTn id="53" presetID="53" presetClass="entr" presetSubtype="16"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childTnLst>
                          </p:cTn>
                        </p:par>
                        <p:par>
                          <p:cTn id="58" fill="hold">
                            <p:stCondLst>
                              <p:cond delay="5000"/>
                            </p:stCondLst>
                            <p:childTnLst>
                              <p:par>
                                <p:cTn id="59" presetID="53" presetClass="entr" presetSubtype="16"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ppt_w</p:attrName>
                                        </p:attrNameLst>
                                      </p:cBhvr>
                                      <p:tavLst>
                                        <p:tav tm="0">
                                          <p:val>
                                            <p:fltVal val="0"/>
                                          </p:val>
                                        </p:tav>
                                        <p:tav tm="100000">
                                          <p:val>
                                            <p:strVal val="#ppt_w"/>
                                          </p:val>
                                        </p:tav>
                                      </p:tavLst>
                                    </p:anim>
                                    <p:anim calcmode="lin" valueType="num">
                                      <p:cBhvr>
                                        <p:cTn id="62" dur="500" fill="hold"/>
                                        <p:tgtEl>
                                          <p:spTgt spid="18"/>
                                        </p:tgtEl>
                                        <p:attrNameLst>
                                          <p:attrName>ppt_h</p:attrName>
                                        </p:attrNameLst>
                                      </p:cBhvr>
                                      <p:tavLst>
                                        <p:tav tm="0">
                                          <p:val>
                                            <p:fltVal val="0"/>
                                          </p:val>
                                        </p:tav>
                                        <p:tav tm="100000">
                                          <p:val>
                                            <p:strVal val="#ppt_h"/>
                                          </p:val>
                                        </p:tav>
                                      </p:tavLst>
                                    </p:anim>
                                    <p:animEffect transition="in" filter="fade">
                                      <p:cBhvr>
                                        <p:cTn id="63" dur="500"/>
                                        <p:tgtEl>
                                          <p:spTgt spid="18"/>
                                        </p:tgtEl>
                                      </p:cBhvr>
                                    </p:animEffect>
                                  </p:childTnLst>
                                </p:cTn>
                              </p:par>
                            </p:childTnLst>
                          </p:cTn>
                        </p:par>
                        <p:par>
                          <p:cTn id="64" fill="hold">
                            <p:stCondLst>
                              <p:cond delay="5500"/>
                            </p:stCondLst>
                            <p:childTnLst>
                              <p:par>
                                <p:cTn id="65" presetID="53" presetClass="entr" presetSubtype="16" fill="hold" nodeType="afterEffect">
                                  <p:stCondLst>
                                    <p:cond delay="0"/>
                                  </p:stCondLst>
                                  <p:childTnLst>
                                    <p:set>
                                      <p:cBhvr>
                                        <p:cTn id="66" dur="1" fill="hold">
                                          <p:stCondLst>
                                            <p:cond delay="0"/>
                                          </p:stCondLst>
                                        </p:cTn>
                                        <p:tgtEl>
                                          <p:spTgt spid="101"/>
                                        </p:tgtEl>
                                        <p:attrNameLst>
                                          <p:attrName>style.visibility</p:attrName>
                                        </p:attrNameLst>
                                      </p:cBhvr>
                                      <p:to>
                                        <p:strVal val="visible"/>
                                      </p:to>
                                    </p:set>
                                    <p:anim calcmode="lin" valueType="num">
                                      <p:cBhvr>
                                        <p:cTn id="67" dur="500" fill="hold"/>
                                        <p:tgtEl>
                                          <p:spTgt spid="101"/>
                                        </p:tgtEl>
                                        <p:attrNameLst>
                                          <p:attrName>ppt_w</p:attrName>
                                        </p:attrNameLst>
                                      </p:cBhvr>
                                      <p:tavLst>
                                        <p:tav tm="0">
                                          <p:val>
                                            <p:fltVal val="0"/>
                                          </p:val>
                                        </p:tav>
                                        <p:tav tm="100000">
                                          <p:val>
                                            <p:strVal val="#ppt_w"/>
                                          </p:val>
                                        </p:tav>
                                      </p:tavLst>
                                    </p:anim>
                                    <p:anim calcmode="lin" valueType="num">
                                      <p:cBhvr>
                                        <p:cTn id="68" dur="500" fill="hold"/>
                                        <p:tgtEl>
                                          <p:spTgt spid="101"/>
                                        </p:tgtEl>
                                        <p:attrNameLst>
                                          <p:attrName>ppt_h</p:attrName>
                                        </p:attrNameLst>
                                      </p:cBhvr>
                                      <p:tavLst>
                                        <p:tav tm="0">
                                          <p:val>
                                            <p:fltVal val="0"/>
                                          </p:val>
                                        </p:tav>
                                        <p:tav tm="100000">
                                          <p:val>
                                            <p:strVal val="#ppt_h"/>
                                          </p:val>
                                        </p:tav>
                                      </p:tavLst>
                                    </p:anim>
                                    <p:animEffect transition="in" filter="fade">
                                      <p:cBhvr>
                                        <p:cTn id="69" dur="500"/>
                                        <p:tgtEl>
                                          <p:spTgt spid="101"/>
                                        </p:tgtEl>
                                      </p:cBhvr>
                                    </p:animEffect>
                                  </p:childTnLst>
                                </p:cTn>
                              </p:par>
                            </p:childTnLst>
                          </p:cTn>
                        </p:par>
                        <p:par>
                          <p:cTn id="70" fill="hold">
                            <p:stCondLst>
                              <p:cond delay="6000"/>
                            </p:stCondLst>
                            <p:childTnLst>
                              <p:par>
                                <p:cTn id="71" presetID="22" presetClass="entr" presetSubtype="8"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par>
                          <p:cTn id="74" fill="hold">
                            <p:stCondLst>
                              <p:cond delay="6500"/>
                            </p:stCondLst>
                            <p:childTnLst>
                              <p:par>
                                <p:cTn id="75" presetID="53" presetClass="entr" presetSubtype="16" fill="hold" grpId="0" nodeType="after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childTnLst>
                          </p:cTn>
                        </p:par>
                        <p:par>
                          <p:cTn id="80" fill="hold">
                            <p:stCondLst>
                              <p:cond delay="7000"/>
                            </p:stCondLst>
                            <p:childTnLst>
                              <p:par>
                                <p:cTn id="81" presetID="53" presetClass="entr" presetSubtype="16" fill="hold" grpId="0" nodeType="after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p:cTn id="83" dur="500" fill="hold"/>
                                        <p:tgtEl>
                                          <p:spTgt spid="20"/>
                                        </p:tgtEl>
                                        <p:attrNameLst>
                                          <p:attrName>ppt_w</p:attrName>
                                        </p:attrNameLst>
                                      </p:cBhvr>
                                      <p:tavLst>
                                        <p:tav tm="0">
                                          <p:val>
                                            <p:fltVal val="0"/>
                                          </p:val>
                                        </p:tav>
                                        <p:tav tm="100000">
                                          <p:val>
                                            <p:strVal val="#ppt_w"/>
                                          </p:val>
                                        </p:tav>
                                      </p:tavLst>
                                    </p:anim>
                                    <p:anim calcmode="lin" valueType="num">
                                      <p:cBhvr>
                                        <p:cTn id="84" dur="500" fill="hold"/>
                                        <p:tgtEl>
                                          <p:spTgt spid="20"/>
                                        </p:tgtEl>
                                        <p:attrNameLst>
                                          <p:attrName>ppt_h</p:attrName>
                                        </p:attrNameLst>
                                      </p:cBhvr>
                                      <p:tavLst>
                                        <p:tav tm="0">
                                          <p:val>
                                            <p:fltVal val="0"/>
                                          </p:val>
                                        </p:tav>
                                        <p:tav tm="100000">
                                          <p:val>
                                            <p:strVal val="#ppt_h"/>
                                          </p:val>
                                        </p:tav>
                                      </p:tavLst>
                                    </p:anim>
                                    <p:animEffect transition="in" filter="fade">
                                      <p:cBhvr>
                                        <p:cTn id="85" dur="500"/>
                                        <p:tgtEl>
                                          <p:spTgt spid="20"/>
                                        </p:tgtEl>
                                      </p:cBhvr>
                                    </p:animEffect>
                                  </p:childTnLst>
                                </p:cTn>
                              </p:par>
                            </p:childTnLst>
                          </p:cTn>
                        </p:par>
                        <p:par>
                          <p:cTn id="86" fill="hold">
                            <p:stCondLst>
                              <p:cond delay="7500"/>
                            </p:stCondLst>
                            <p:childTnLst>
                              <p:par>
                                <p:cTn id="87" presetID="53" presetClass="entr" presetSubtype="16" fill="hold" grpId="0" nodeType="afterEffect">
                                  <p:stCondLst>
                                    <p:cond delay="0"/>
                                  </p:stCondLst>
                                  <p:childTnLst>
                                    <p:set>
                                      <p:cBhvr>
                                        <p:cTn id="88" dur="1" fill="hold">
                                          <p:stCondLst>
                                            <p:cond delay="0"/>
                                          </p:stCondLst>
                                        </p:cTn>
                                        <p:tgtEl>
                                          <p:spTgt spid="92"/>
                                        </p:tgtEl>
                                        <p:attrNameLst>
                                          <p:attrName>style.visibility</p:attrName>
                                        </p:attrNameLst>
                                      </p:cBhvr>
                                      <p:to>
                                        <p:strVal val="visible"/>
                                      </p:to>
                                    </p:set>
                                    <p:anim calcmode="lin" valueType="num">
                                      <p:cBhvr>
                                        <p:cTn id="89" dur="500" fill="hold"/>
                                        <p:tgtEl>
                                          <p:spTgt spid="92"/>
                                        </p:tgtEl>
                                        <p:attrNameLst>
                                          <p:attrName>ppt_w</p:attrName>
                                        </p:attrNameLst>
                                      </p:cBhvr>
                                      <p:tavLst>
                                        <p:tav tm="0">
                                          <p:val>
                                            <p:fltVal val="0"/>
                                          </p:val>
                                        </p:tav>
                                        <p:tav tm="100000">
                                          <p:val>
                                            <p:strVal val="#ppt_w"/>
                                          </p:val>
                                        </p:tav>
                                      </p:tavLst>
                                    </p:anim>
                                    <p:anim calcmode="lin" valueType="num">
                                      <p:cBhvr>
                                        <p:cTn id="90" dur="500" fill="hold"/>
                                        <p:tgtEl>
                                          <p:spTgt spid="92"/>
                                        </p:tgtEl>
                                        <p:attrNameLst>
                                          <p:attrName>ppt_h</p:attrName>
                                        </p:attrNameLst>
                                      </p:cBhvr>
                                      <p:tavLst>
                                        <p:tav tm="0">
                                          <p:val>
                                            <p:fltVal val="0"/>
                                          </p:val>
                                        </p:tav>
                                        <p:tav tm="100000">
                                          <p:val>
                                            <p:strVal val="#ppt_h"/>
                                          </p:val>
                                        </p:tav>
                                      </p:tavLst>
                                    </p:anim>
                                    <p:animEffect transition="in" filter="fade">
                                      <p:cBhvr>
                                        <p:cTn id="91" dur="500"/>
                                        <p:tgtEl>
                                          <p:spTgt spid="92"/>
                                        </p:tgtEl>
                                      </p:cBhvr>
                                    </p:animEffect>
                                  </p:childTnLst>
                                </p:cTn>
                              </p:par>
                            </p:childTnLst>
                          </p:cTn>
                        </p:par>
                        <p:par>
                          <p:cTn id="92" fill="hold">
                            <p:stCondLst>
                              <p:cond delay="8000"/>
                            </p:stCondLst>
                            <p:childTnLst>
                              <p:par>
                                <p:cTn id="93" presetID="53" presetClass="entr" presetSubtype="16" fill="hold" nodeType="afterEffect">
                                  <p:stCondLst>
                                    <p:cond delay="0"/>
                                  </p:stCondLst>
                                  <p:childTnLst>
                                    <p:set>
                                      <p:cBhvr>
                                        <p:cTn id="94" dur="1" fill="hold">
                                          <p:stCondLst>
                                            <p:cond delay="0"/>
                                          </p:stCondLst>
                                        </p:cTn>
                                        <p:tgtEl>
                                          <p:spTgt spid="12"/>
                                        </p:tgtEl>
                                        <p:attrNameLst>
                                          <p:attrName>style.visibility</p:attrName>
                                        </p:attrNameLst>
                                      </p:cBhvr>
                                      <p:to>
                                        <p:strVal val="visible"/>
                                      </p:to>
                                    </p:set>
                                    <p:anim calcmode="lin" valueType="num">
                                      <p:cBhvr>
                                        <p:cTn id="95" dur="500" fill="hold"/>
                                        <p:tgtEl>
                                          <p:spTgt spid="12"/>
                                        </p:tgtEl>
                                        <p:attrNameLst>
                                          <p:attrName>ppt_w</p:attrName>
                                        </p:attrNameLst>
                                      </p:cBhvr>
                                      <p:tavLst>
                                        <p:tav tm="0">
                                          <p:val>
                                            <p:fltVal val="0"/>
                                          </p:val>
                                        </p:tav>
                                        <p:tav tm="100000">
                                          <p:val>
                                            <p:strVal val="#ppt_w"/>
                                          </p:val>
                                        </p:tav>
                                      </p:tavLst>
                                    </p:anim>
                                    <p:anim calcmode="lin" valueType="num">
                                      <p:cBhvr>
                                        <p:cTn id="96" dur="500" fill="hold"/>
                                        <p:tgtEl>
                                          <p:spTgt spid="12"/>
                                        </p:tgtEl>
                                        <p:attrNameLst>
                                          <p:attrName>ppt_h</p:attrName>
                                        </p:attrNameLst>
                                      </p:cBhvr>
                                      <p:tavLst>
                                        <p:tav tm="0">
                                          <p:val>
                                            <p:fltVal val="0"/>
                                          </p:val>
                                        </p:tav>
                                        <p:tav tm="100000">
                                          <p:val>
                                            <p:strVal val="#ppt_h"/>
                                          </p:val>
                                        </p:tav>
                                      </p:tavLst>
                                    </p:anim>
                                    <p:animEffect transition="in" filter="fade">
                                      <p:cBhvr>
                                        <p:cTn id="97" dur="500"/>
                                        <p:tgtEl>
                                          <p:spTgt spid="12"/>
                                        </p:tgtEl>
                                      </p:cBhvr>
                                    </p:animEffect>
                                  </p:childTnLst>
                                </p:cTn>
                              </p:par>
                            </p:childTnLst>
                          </p:cTn>
                        </p:par>
                        <p:par>
                          <p:cTn id="98" fill="hold">
                            <p:stCondLst>
                              <p:cond delay="8500"/>
                            </p:stCondLst>
                            <p:childTnLst>
                              <p:par>
                                <p:cTn id="99" presetID="22" presetClass="entr" presetSubtype="8" fill="hold" nodeType="after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left)">
                                      <p:cBhvr>
                                        <p:cTn id="101" dur="500"/>
                                        <p:tgtEl>
                                          <p:spTgt spid="31"/>
                                        </p:tgtEl>
                                      </p:cBhvr>
                                    </p:animEffect>
                                  </p:childTnLst>
                                </p:cTn>
                              </p:par>
                            </p:childTnLst>
                          </p:cTn>
                        </p:par>
                        <p:par>
                          <p:cTn id="102" fill="hold">
                            <p:stCondLst>
                              <p:cond delay="9000"/>
                            </p:stCondLst>
                            <p:childTnLst>
                              <p:par>
                                <p:cTn id="103" presetID="53" presetClass="entr" presetSubtype="16" fill="hold" grpId="0" nodeType="afterEffect">
                                  <p:stCondLst>
                                    <p:cond delay="0"/>
                                  </p:stCondLst>
                                  <p:childTnLst>
                                    <p:set>
                                      <p:cBhvr>
                                        <p:cTn id="104" dur="1" fill="hold">
                                          <p:stCondLst>
                                            <p:cond delay="0"/>
                                          </p:stCondLst>
                                        </p:cTn>
                                        <p:tgtEl>
                                          <p:spTgt spid="21"/>
                                        </p:tgtEl>
                                        <p:attrNameLst>
                                          <p:attrName>style.visibility</p:attrName>
                                        </p:attrNameLst>
                                      </p:cBhvr>
                                      <p:to>
                                        <p:strVal val="visible"/>
                                      </p:to>
                                    </p:set>
                                    <p:anim calcmode="lin" valueType="num">
                                      <p:cBhvr>
                                        <p:cTn id="105" dur="500" fill="hold"/>
                                        <p:tgtEl>
                                          <p:spTgt spid="21"/>
                                        </p:tgtEl>
                                        <p:attrNameLst>
                                          <p:attrName>ppt_w</p:attrName>
                                        </p:attrNameLst>
                                      </p:cBhvr>
                                      <p:tavLst>
                                        <p:tav tm="0">
                                          <p:val>
                                            <p:fltVal val="0"/>
                                          </p:val>
                                        </p:tav>
                                        <p:tav tm="100000">
                                          <p:val>
                                            <p:strVal val="#ppt_w"/>
                                          </p:val>
                                        </p:tav>
                                      </p:tavLst>
                                    </p:anim>
                                    <p:anim calcmode="lin" valueType="num">
                                      <p:cBhvr>
                                        <p:cTn id="106" dur="500" fill="hold"/>
                                        <p:tgtEl>
                                          <p:spTgt spid="21"/>
                                        </p:tgtEl>
                                        <p:attrNameLst>
                                          <p:attrName>ppt_h</p:attrName>
                                        </p:attrNameLst>
                                      </p:cBhvr>
                                      <p:tavLst>
                                        <p:tav tm="0">
                                          <p:val>
                                            <p:fltVal val="0"/>
                                          </p:val>
                                        </p:tav>
                                        <p:tav tm="100000">
                                          <p:val>
                                            <p:strVal val="#ppt_h"/>
                                          </p:val>
                                        </p:tav>
                                      </p:tavLst>
                                    </p:anim>
                                    <p:animEffect transition="in" filter="fade">
                                      <p:cBhvr>
                                        <p:cTn id="107" dur="500"/>
                                        <p:tgtEl>
                                          <p:spTgt spid="21"/>
                                        </p:tgtEl>
                                      </p:cBhvr>
                                    </p:animEffect>
                                  </p:childTnLst>
                                </p:cTn>
                              </p:par>
                            </p:childTnLst>
                          </p:cTn>
                        </p:par>
                        <p:par>
                          <p:cTn id="108" fill="hold">
                            <p:stCondLst>
                              <p:cond delay="9500"/>
                            </p:stCondLst>
                            <p:childTnLst>
                              <p:par>
                                <p:cTn id="109" presetID="53" presetClass="entr" presetSubtype="16" fill="hold" grpId="0" nodeType="afterEffect">
                                  <p:stCondLst>
                                    <p:cond delay="0"/>
                                  </p:stCondLst>
                                  <p:childTnLst>
                                    <p:set>
                                      <p:cBhvr>
                                        <p:cTn id="110" dur="1" fill="hold">
                                          <p:stCondLst>
                                            <p:cond delay="0"/>
                                          </p:stCondLst>
                                        </p:cTn>
                                        <p:tgtEl>
                                          <p:spTgt spid="22"/>
                                        </p:tgtEl>
                                        <p:attrNameLst>
                                          <p:attrName>style.visibility</p:attrName>
                                        </p:attrNameLst>
                                      </p:cBhvr>
                                      <p:to>
                                        <p:strVal val="visible"/>
                                      </p:to>
                                    </p:set>
                                    <p:anim calcmode="lin" valueType="num">
                                      <p:cBhvr>
                                        <p:cTn id="111" dur="500" fill="hold"/>
                                        <p:tgtEl>
                                          <p:spTgt spid="22"/>
                                        </p:tgtEl>
                                        <p:attrNameLst>
                                          <p:attrName>ppt_w</p:attrName>
                                        </p:attrNameLst>
                                      </p:cBhvr>
                                      <p:tavLst>
                                        <p:tav tm="0">
                                          <p:val>
                                            <p:fltVal val="0"/>
                                          </p:val>
                                        </p:tav>
                                        <p:tav tm="100000">
                                          <p:val>
                                            <p:strVal val="#ppt_w"/>
                                          </p:val>
                                        </p:tav>
                                      </p:tavLst>
                                    </p:anim>
                                    <p:anim calcmode="lin" valueType="num">
                                      <p:cBhvr>
                                        <p:cTn id="112" dur="500" fill="hold"/>
                                        <p:tgtEl>
                                          <p:spTgt spid="22"/>
                                        </p:tgtEl>
                                        <p:attrNameLst>
                                          <p:attrName>ppt_h</p:attrName>
                                        </p:attrNameLst>
                                      </p:cBhvr>
                                      <p:tavLst>
                                        <p:tav tm="0">
                                          <p:val>
                                            <p:fltVal val="0"/>
                                          </p:val>
                                        </p:tav>
                                        <p:tav tm="100000">
                                          <p:val>
                                            <p:strVal val="#ppt_h"/>
                                          </p:val>
                                        </p:tav>
                                      </p:tavLst>
                                    </p:anim>
                                    <p:animEffect transition="in" filter="fade">
                                      <p:cBhvr>
                                        <p:cTn id="113" dur="500"/>
                                        <p:tgtEl>
                                          <p:spTgt spid="22"/>
                                        </p:tgtEl>
                                      </p:cBhvr>
                                    </p:animEffect>
                                  </p:childTnLst>
                                </p:cTn>
                              </p:par>
                            </p:childTnLst>
                          </p:cTn>
                        </p:par>
                        <p:par>
                          <p:cTn id="114" fill="hold">
                            <p:stCondLst>
                              <p:cond delay="10000"/>
                            </p:stCondLst>
                            <p:childTnLst>
                              <p:par>
                                <p:cTn id="115" presetID="53" presetClass="entr" presetSubtype="16" fill="hold" nodeType="afterEffect">
                                  <p:stCondLst>
                                    <p:cond delay="0"/>
                                  </p:stCondLst>
                                  <p:childTnLst>
                                    <p:set>
                                      <p:cBhvr>
                                        <p:cTn id="116" dur="1" fill="hold">
                                          <p:stCondLst>
                                            <p:cond delay="0"/>
                                          </p:stCondLst>
                                        </p:cTn>
                                        <p:tgtEl>
                                          <p:spTgt spid="103"/>
                                        </p:tgtEl>
                                        <p:attrNameLst>
                                          <p:attrName>style.visibility</p:attrName>
                                        </p:attrNameLst>
                                      </p:cBhvr>
                                      <p:to>
                                        <p:strVal val="visible"/>
                                      </p:to>
                                    </p:set>
                                    <p:anim calcmode="lin" valueType="num">
                                      <p:cBhvr>
                                        <p:cTn id="117" dur="500" fill="hold"/>
                                        <p:tgtEl>
                                          <p:spTgt spid="103"/>
                                        </p:tgtEl>
                                        <p:attrNameLst>
                                          <p:attrName>ppt_w</p:attrName>
                                        </p:attrNameLst>
                                      </p:cBhvr>
                                      <p:tavLst>
                                        <p:tav tm="0">
                                          <p:val>
                                            <p:fltVal val="0"/>
                                          </p:val>
                                        </p:tav>
                                        <p:tav tm="100000">
                                          <p:val>
                                            <p:strVal val="#ppt_w"/>
                                          </p:val>
                                        </p:tav>
                                      </p:tavLst>
                                    </p:anim>
                                    <p:anim calcmode="lin" valueType="num">
                                      <p:cBhvr>
                                        <p:cTn id="118" dur="500" fill="hold"/>
                                        <p:tgtEl>
                                          <p:spTgt spid="103"/>
                                        </p:tgtEl>
                                        <p:attrNameLst>
                                          <p:attrName>ppt_h</p:attrName>
                                        </p:attrNameLst>
                                      </p:cBhvr>
                                      <p:tavLst>
                                        <p:tav tm="0">
                                          <p:val>
                                            <p:fltVal val="0"/>
                                          </p:val>
                                        </p:tav>
                                        <p:tav tm="100000">
                                          <p:val>
                                            <p:strVal val="#ppt_h"/>
                                          </p:val>
                                        </p:tav>
                                      </p:tavLst>
                                    </p:anim>
                                    <p:animEffect transition="in" filter="fade">
                                      <p:cBhvr>
                                        <p:cTn id="119" dur="500"/>
                                        <p:tgtEl>
                                          <p:spTgt spid="103"/>
                                        </p:tgtEl>
                                      </p:cBhvr>
                                    </p:animEffect>
                                  </p:childTnLst>
                                </p:cTn>
                              </p:par>
                            </p:childTnLst>
                          </p:cTn>
                        </p:par>
                        <p:par>
                          <p:cTn id="120" fill="hold">
                            <p:stCondLst>
                              <p:cond delay="10500"/>
                            </p:stCondLst>
                            <p:childTnLst>
                              <p:par>
                                <p:cTn id="121" presetID="22" presetClass="entr" presetSubtype="8" fill="hold" nodeType="afterEffect">
                                  <p:stCondLst>
                                    <p:cond delay="0"/>
                                  </p:stCondLst>
                                  <p:childTnLst>
                                    <p:set>
                                      <p:cBhvr>
                                        <p:cTn id="122" dur="1" fill="hold">
                                          <p:stCondLst>
                                            <p:cond delay="0"/>
                                          </p:stCondLst>
                                        </p:cTn>
                                        <p:tgtEl>
                                          <p:spTgt spid="79"/>
                                        </p:tgtEl>
                                        <p:attrNameLst>
                                          <p:attrName>style.visibility</p:attrName>
                                        </p:attrNameLst>
                                      </p:cBhvr>
                                      <p:to>
                                        <p:strVal val="visible"/>
                                      </p:to>
                                    </p:set>
                                    <p:animEffect transition="in" filter="wipe(left)">
                                      <p:cBhvr>
                                        <p:cTn id="123" dur="500"/>
                                        <p:tgtEl>
                                          <p:spTgt spid="79"/>
                                        </p:tgtEl>
                                      </p:cBhvr>
                                    </p:animEffect>
                                  </p:childTnLst>
                                </p:cTn>
                              </p:par>
                              <p:par>
                                <p:cTn id="124" presetID="53" presetClass="entr" presetSubtype="16" fill="hold" nodeType="withEffect">
                                  <p:stCondLst>
                                    <p:cond delay="0"/>
                                  </p:stCondLst>
                                  <p:childTnLst>
                                    <p:set>
                                      <p:cBhvr>
                                        <p:cTn id="125" dur="1" fill="hold">
                                          <p:stCondLst>
                                            <p:cond delay="0"/>
                                          </p:stCondLst>
                                        </p:cTn>
                                        <p:tgtEl>
                                          <p:spTgt spid="11"/>
                                        </p:tgtEl>
                                        <p:attrNameLst>
                                          <p:attrName>style.visibility</p:attrName>
                                        </p:attrNameLst>
                                      </p:cBhvr>
                                      <p:to>
                                        <p:strVal val="visible"/>
                                      </p:to>
                                    </p:set>
                                    <p:anim calcmode="lin" valueType="num">
                                      <p:cBhvr>
                                        <p:cTn id="126" dur="500" fill="hold"/>
                                        <p:tgtEl>
                                          <p:spTgt spid="11"/>
                                        </p:tgtEl>
                                        <p:attrNameLst>
                                          <p:attrName>ppt_w</p:attrName>
                                        </p:attrNameLst>
                                      </p:cBhvr>
                                      <p:tavLst>
                                        <p:tav tm="0">
                                          <p:val>
                                            <p:fltVal val="0"/>
                                          </p:val>
                                        </p:tav>
                                        <p:tav tm="100000">
                                          <p:val>
                                            <p:strVal val="#ppt_w"/>
                                          </p:val>
                                        </p:tav>
                                      </p:tavLst>
                                    </p:anim>
                                    <p:anim calcmode="lin" valueType="num">
                                      <p:cBhvr>
                                        <p:cTn id="127" dur="500" fill="hold"/>
                                        <p:tgtEl>
                                          <p:spTgt spid="11"/>
                                        </p:tgtEl>
                                        <p:attrNameLst>
                                          <p:attrName>ppt_h</p:attrName>
                                        </p:attrNameLst>
                                      </p:cBhvr>
                                      <p:tavLst>
                                        <p:tav tm="0">
                                          <p:val>
                                            <p:fltVal val="0"/>
                                          </p:val>
                                        </p:tav>
                                        <p:tav tm="100000">
                                          <p:val>
                                            <p:strVal val="#ppt_h"/>
                                          </p:val>
                                        </p:tav>
                                      </p:tavLst>
                                    </p:anim>
                                    <p:animEffect transition="in" filter="fade">
                                      <p:cBhvr>
                                        <p:cTn id="1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13" grpId="0" animBg="1"/>
      <p:bldP spid="14" grpId="0"/>
      <p:bldP spid="17" grpId="0" animBg="1"/>
      <p:bldP spid="18" grpId="0"/>
      <p:bldP spid="19" grpId="0" animBg="1"/>
      <p:bldP spid="20" grpId="0"/>
      <p:bldP spid="21" grpId="0" animBg="1"/>
      <p:bldP spid="22" grpId="0"/>
      <p:bldP spid="9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5">
            <a:extLst>
              <a:ext uri="{FF2B5EF4-FFF2-40B4-BE49-F238E27FC236}">
                <a16:creationId xmlns:a16="http://schemas.microsoft.com/office/drawing/2014/main" id="{28BAC596-E60A-1DFA-F158-9D6B0BECE16A}"/>
              </a:ext>
            </a:extLst>
          </p:cNvPr>
          <p:cNvSpPr txBox="1">
            <a:spLocks/>
          </p:cNvSpPr>
          <p:nvPr/>
        </p:nvSpPr>
        <p:spPr>
          <a:xfrm>
            <a:off x="9386887" y="653256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57A28C-9B0E-425D-8A34-5E2AAF7428D5}" type="slidenum">
              <a:rPr lang="en-IN" smtClean="0">
                <a:solidFill>
                  <a:schemeClr val="bg1"/>
                </a:solidFill>
              </a:rPr>
              <a:pPr/>
              <a:t>3</a:t>
            </a:fld>
            <a:endParaRPr lang="en-IN" dirty="0">
              <a:solidFill>
                <a:schemeClr val="bg1"/>
              </a:solidFill>
            </a:endParaRPr>
          </a:p>
        </p:txBody>
      </p:sp>
      <p:sp>
        <p:nvSpPr>
          <p:cNvPr id="25" name="Slide Number Placeholder 25">
            <a:extLst>
              <a:ext uri="{FF2B5EF4-FFF2-40B4-BE49-F238E27FC236}">
                <a16:creationId xmlns:a16="http://schemas.microsoft.com/office/drawing/2014/main" id="{4739979F-BF5F-FE05-61A7-63B1F76D28E4}"/>
              </a:ext>
            </a:extLst>
          </p:cNvPr>
          <p:cNvSpPr>
            <a:spLocks noGrp="1"/>
          </p:cNvSpPr>
          <p:nvPr>
            <p:ph type="sldNum" sz="quarter" idx="12"/>
          </p:nvPr>
        </p:nvSpPr>
        <p:spPr>
          <a:xfrm>
            <a:off x="9375623" y="6245383"/>
            <a:ext cx="2743200" cy="365125"/>
          </a:xfrm>
        </p:spPr>
        <p:txBody>
          <a:bodyPr/>
          <a:lstStyle/>
          <a:p>
            <a:fld id="{8B57A28C-9B0E-425D-8A34-5E2AAF7428D5}" type="slidenum">
              <a:rPr lang="en-IN" smtClean="0"/>
              <a:pPr/>
              <a:t>3</a:t>
            </a:fld>
            <a:endParaRPr lang="en-IN" dirty="0"/>
          </a:p>
        </p:txBody>
      </p:sp>
      <p:sp>
        <p:nvSpPr>
          <p:cNvPr id="12" name="Rectangle 11">
            <a:extLst>
              <a:ext uri="{FF2B5EF4-FFF2-40B4-BE49-F238E27FC236}">
                <a16:creationId xmlns:a16="http://schemas.microsoft.com/office/drawing/2014/main" id="{A6710A50-53D7-01E3-DA44-BE5F9C07E8FC}"/>
              </a:ext>
            </a:extLst>
          </p:cNvPr>
          <p:cNvSpPr/>
          <p:nvPr/>
        </p:nvSpPr>
        <p:spPr>
          <a:xfrm>
            <a:off x="3832207" y="395627"/>
            <a:ext cx="4572207" cy="60474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6" name="Group 15">
            <a:extLst>
              <a:ext uri="{FF2B5EF4-FFF2-40B4-BE49-F238E27FC236}">
                <a16:creationId xmlns:a16="http://schemas.microsoft.com/office/drawing/2014/main" id="{2B464E60-C09A-DB40-EAF0-7AD3E1A852CC}"/>
              </a:ext>
            </a:extLst>
          </p:cNvPr>
          <p:cNvGrpSpPr/>
          <p:nvPr/>
        </p:nvGrpSpPr>
        <p:grpSpPr>
          <a:xfrm>
            <a:off x="5516884" y="1098289"/>
            <a:ext cx="1158232" cy="145662"/>
            <a:chOff x="4679586" y="878988"/>
            <a:chExt cx="1434489" cy="190500"/>
          </a:xfrm>
        </p:grpSpPr>
        <p:sp>
          <p:nvSpPr>
            <p:cNvPr id="19" name="Oval 18">
              <a:extLst>
                <a:ext uri="{FF2B5EF4-FFF2-40B4-BE49-F238E27FC236}">
                  <a16:creationId xmlns:a16="http://schemas.microsoft.com/office/drawing/2014/main" id="{8D7564BC-71F6-8DE7-2504-54740CF38896}"/>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D910F53-8DEA-7D1B-DF6C-D46B231546A5}"/>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868BBA7-73F1-6A6E-624B-94A37B763F19}"/>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94FED12-8C21-FAA3-2EF9-70E57659D177}"/>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2C8987B-26DD-6575-F9E7-870F915D548E}"/>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Google Shape;227;p3">
            <a:extLst>
              <a:ext uri="{FF2B5EF4-FFF2-40B4-BE49-F238E27FC236}">
                <a16:creationId xmlns:a16="http://schemas.microsoft.com/office/drawing/2014/main" id="{7B07964F-41AF-4581-2360-255614B31B11}"/>
              </a:ext>
            </a:extLst>
          </p:cNvPr>
          <p:cNvSpPr txBox="1">
            <a:spLocks/>
          </p:cNvSpPr>
          <p:nvPr/>
        </p:nvSpPr>
        <p:spPr>
          <a:xfrm>
            <a:off x="3832207" y="184195"/>
            <a:ext cx="5178449" cy="1055737"/>
          </a:xfrm>
          <a:prstGeom prst="rect">
            <a:avLst/>
          </a:prstGeom>
        </p:spPr>
        <p:txBody>
          <a:bodyPr spcFirstLastPara="1" vert="horz" lIns="91440" tIns="45720" rIns="91440" bIns="45720" rtlCol="0"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
                <a:schemeClr val="dk1"/>
              </a:buClr>
              <a:buSzPct val="100000"/>
            </a:pPr>
            <a:r>
              <a:rPr lang="en-US" sz="3200" b="1" dirty="0">
                <a:solidFill>
                  <a:schemeClr val="bg1"/>
                </a:solidFill>
                <a:latin typeface="Times New Roman" panose="02020603050405020304" pitchFamily="18" charset="0"/>
                <a:cs typeface="Times New Roman" panose="02020603050405020304" pitchFamily="18" charset="0"/>
              </a:rPr>
              <a:t>GROUP INFORMATION</a:t>
            </a:r>
          </a:p>
        </p:txBody>
      </p:sp>
      <p:sp>
        <p:nvSpPr>
          <p:cNvPr id="32" name="TextBox 31">
            <a:extLst>
              <a:ext uri="{FF2B5EF4-FFF2-40B4-BE49-F238E27FC236}">
                <a16:creationId xmlns:a16="http://schemas.microsoft.com/office/drawing/2014/main" id="{BC2B3D03-7E8C-37CF-8EBF-843461CFB153}"/>
              </a:ext>
            </a:extLst>
          </p:cNvPr>
          <p:cNvSpPr txBox="1"/>
          <p:nvPr/>
        </p:nvSpPr>
        <p:spPr>
          <a:xfrm>
            <a:off x="3643086" y="5453355"/>
            <a:ext cx="574380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Guided by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Dr.Anuradha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Yenkikar</a:t>
            </a:r>
            <a:r>
              <a:rPr lang="en-US" dirty="0">
                <a:latin typeface="Times New Roman" panose="02020603050405020304" pitchFamily="18" charset="0"/>
                <a:cs typeface="Times New Roman" panose="02020603050405020304" pitchFamily="18" charset="0"/>
              </a:rPr>
              <a:t> and Prof. </a:t>
            </a:r>
            <a:r>
              <a:rPr lang="en-US" dirty="0" err="1">
                <a:latin typeface="Times New Roman" panose="02020603050405020304" pitchFamily="18" charset="0"/>
                <a:cs typeface="Times New Roman" panose="02020603050405020304" pitchFamily="18" charset="0"/>
              </a:rPr>
              <a:t>Pranjal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Pandit</a:t>
            </a:r>
            <a:r>
              <a:rPr lang="en-US" dirty="0">
                <a:latin typeface="Times New Roman" panose="02020603050405020304" pitchFamily="18" charset="0"/>
                <a:cs typeface="Times New Roman" panose="02020603050405020304" pitchFamily="18" charset="0"/>
              </a:rPr>
              <a:t> </a:t>
            </a:r>
          </a:p>
        </p:txBody>
      </p:sp>
      <p:sp>
        <p:nvSpPr>
          <p:cNvPr id="33" name="TextBox 32">
            <a:extLst>
              <a:ext uri="{FF2B5EF4-FFF2-40B4-BE49-F238E27FC236}">
                <a16:creationId xmlns:a16="http://schemas.microsoft.com/office/drawing/2014/main" id="{CAD0CE1B-5D3D-FDC3-3802-66CEB9F5B266}"/>
              </a:ext>
            </a:extLst>
          </p:cNvPr>
          <p:cNvSpPr txBox="1"/>
          <p:nvPr/>
        </p:nvSpPr>
        <p:spPr>
          <a:xfrm>
            <a:off x="4817070" y="1516393"/>
            <a:ext cx="593015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Group No. :- </a:t>
            </a:r>
            <a:r>
              <a:rPr lang="en-US" sz="2400" dirty="0">
                <a:latin typeface="Times New Roman" panose="02020603050405020304" pitchFamily="18" charset="0"/>
                <a:cs typeface="Times New Roman" panose="02020603050405020304" pitchFamily="18" charset="0"/>
              </a:rPr>
              <a:t>Group07</a:t>
            </a:r>
            <a:endParaRPr lang="en-IN" sz="24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A8830F4-815C-071B-49C9-85B1075A4F2A}"/>
              </a:ext>
            </a:extLst>
          </p:cNvPr>
          <p:cNvSpPr txBox="1"/>
          <p:nvPr/>
        </p:nvSpPr>
        <p:spPr>
          <a:xfrm>
            <a:off x="5309201" y="2326478"/>
            <a:ext cx="257801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Group Members</a:t>
            </a:r>
            <a:endParaRPr lang="en-IN" sz="2400" dirty="0">
              <a:latin typeface="Times New Roman" panose="02020603050405020304" pitchFamily="18" charset="0"/>
              <a:cs typeface="Times New Roman" panose="02020603050405020304" pitchFamily="18" charset="0"/>
            </a:endParaRPr>
          </a:p>
        </p:txBody>
      </p:sp>
      <p:pic>
        <p:nvPicPr>
          <p:cNvPr id="35" name="Picture 34" descr="Logo">
            <a:extLst>
              <a:ext uri="{FF2B5EF4-FFF2-40B4-BE49-F238E27FC236}">
                <a16:creationId xmlns:a16="http://schemas.microsoft.com/office/drawing/2014/main" id="{92480530-A2D2-8DB6-B56F-9F077C4752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3317" y="-4280444"/>
            <a:ext cx="7082626" cy="10635846"/>
          </a:xfrm>
          <a:prstGeom prst="rect">
            <a:avLst/>
          </a:prstGeom>
        </p:spPr>
      </p:pic>
      <p:sp>
        <p:nvSpPr>
          <p:cNvPr id="2" name="Rectangle 1">
            <a:extLst>
              <a:ext uri="{FF2B5EF4-FFF2-40B4-BE49-F238E27FC236}">
                <a16:creationId xmlns:a16="http://schemas.microsoft.com/office/drawing/2014/main" id="{DCC8FCEB-6145-0DAE-6DCB-893E908B81CA}"/>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CAACEA7A-A323-8A6B-4846-DAB49C8EA99F}"/>
              </a:ext>
            </a:extLst>
          </p:cNvPr>
          <p:cNvGraphicFramePr>
            <a:graphicFrameLocks noGrp="1"/>
          </p:cNvGraphicFramePr>
          <p:nvPr>
            <p:extLst>
              <p:ext uri="{D42A27DB-BD31-4B8C-83A1-F6EECF244321}">
                <p14:modId xmlns:p14="http://schemas.microsoft.com/office/powerpoint/2010/main" val="3566328773"/>
              </p:ext>
            </p:extLst>
          </p:nvPr>
        </p:nvGraphicFramePr>
        <p:xfrm>
          <a:off x="2457303" y="3021907"/>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4536252"/>
                    </a:ext>
                  </a:extLst>
                </a:gridCol>
                <a:gridCol w="2032000">
                  <a:extLst>
                    <a:ext uri="{9D8B030D-6E8A-4147-A177-3AD203B41FA5}">
                      <a16:colId xmlns:a16="http://schemas.microsoft.com/office/drawing/2014/main" val="3891097489"/>
                    </a:ext>
                  </a:extLst>
                </a:gridCol>
                <a:gridCol w="2032000">
                  <a:extLst>
                    <a:ext uri="{9D8B030D-6E8A-4147-A177-3AD203B41FA5}">
                      <a16:colId xmlns:a16="http://schemas.microsoft.com/office/drawing/2014/main" val="966165806"/>
                    </a:ext>
                  </a:extLst>
                </a:gridCol>
                <a:gridCol w="2032000">
                  <a:extLst>
                    <a:ext uri="{9D8B030D-6E8A-4147-A177-3AD203B41FA5}">
                      <a16:colId xmlns:a16="http://schemas.microsoft.com/office/drawing/2014/main" val="863610001"/>
                    </a:ext>
                  </a:extLst>
                </a:gridCol>
              </a:tblGrid>
              <a:tr h="370840">
                <a:tc>
                  <a:txBody>
                    <a:bodyPr/>
                    <a:lstStyle/>
                    <a:p>
                      <a:r>
                        <a:rPr lang="en-US" dirty="0"/>
                        <a:t>Sr No.</a:t>
                      </a:r>
                      <a:endParaRPr lang="en-IN" dirty="0"/>
                    </a:p>
                  </a:txBody>
                  <a:tcPr/>
                </a:tc>
                <a:tc>
                  <a:txBody>
                    <a:bodyPr/>
                    <a:lstStyle/>
                    <a:p>
                      <a:r>
                        <a:rPr lang="en-US" dirty="0"/>
                        <a:t>Name</a:t>
                      </a:r>
                      <a:endParaRPr lang="en-IN" dirty="0"/>
                    </a:p>
                  </a:txBody>
                  <a:tcPr/>
                </a:tc>
                <a:tc>
                  <a:txBody>
                    <a:bodyPr/>
                    <a:lstStyle/>
                    <a:p>
                      <a:r>
                        <a:rPr lang="en-US" dirty="0"/>
                        <a:t>Roll No.</a:t>
                      </a:r>
                      <a:endParaRPr lang="en-IN" dirty="0"/>
                    </a:p>
                  </a:txBody>
                  <a:tcPr/>
                </a:tc>
                <a:tc>
                  <a:txBody>
                    <a:bodyPr/>
                    <a:lstStyle/>
                    <a:p>
                      <a:r>
                        <a:rPr lang="en-US" dirty="0"/>
                        <a:t>PRN No.</a:t>
                      </a:r>
                      <a:endParaRPr lang="en-IN" dirty="0"/>
                    </a:p>
                  </a:txBody>
                  <a:tcPr/>
                </a:tc>
                <a:extLst>
                  <a:ext uri="{0D108BD9-81ED-4DB2-BD59-A6C34878D82A}">
                    <a16:rowId xmlns:a16="http://schemas.microsoft.com/office/drawing/2014/main" val="3574271805"/>
                  </a:ext>
                </a:extLst>
              </a:tr>
              <a:tr h="370840">
                <a:tc>
                  <a:txBody>
                    <a:bodyPr/>
                    <a:lstStyle/>
                    <a:p>
                      <a:r>
                        <a:rPr lang="en-US" dirty="0"/>
                        <a:t>1</a:t>
                      </a:r>
                    </a:p>
                  </a:txBody>
                  <a:tcPr/>
                </a:tc>
                <a:tc>
                  <a:txBody>
                    <a:bodyPr/>
                    <a:lstStyle/>
                    <a:p>
                      <a:r>
                        <a:rPr lang="en-IN" dirty="0"/>
                        <a:t>Rudra </a:t>
                      </a:r>
                      <a:r>
                        <a:rPr lang="en-IN" dirty="0" err="1"/>
                        <a:t>Swant</a:t>
                      </a:r>
                      <a:endParaRPr lang="en-IN" dirty="0"/>
                    </a:p>
                  </a:txBody>
                  <a:tcPr/>
                </a:tc>
                <a:tc>
                  <a:txBody>
                    <a:bodyPr/>
                    <a:lstStyle/>
                    <a:p>
                      <a:r>
                        <a:rPr lang="en-US" dirty="0"/>
                        <a:t>382071</a:t>
                      </a:r>
                      <a:endParaRPr lang="en-IN" dirty="0"/>
                    </a:p>
                  </a:txBody>
                  <a:tcPr/>
                </a:tc>
                <a:tc>
                  <a:txBody>
                    <a:bodyPr/>
                    <a:lstStyle/>
                    <a:p>
                      <a:r>
                        <a:rPr lang="en-US" dirty="0"/>
                        <a:t>22420151</a:t>
                      </a:r>
                      <a:endParaRPr lang="en-IN" dirty="0"/>
                    </a:p>
                  </a:txBody>
                  <a:tcPr/>
                </a:tc>
                <a:extLst>
                  <a:ext uri="{0D108BD9-81ED-4DB2-BD59-A6C34878D82A}">
                    <a16:rowId xmlns:a16="http://schemas.microsoft.com/office/drawing/2014/main" val="164574299"/>
                  </a:ext>
                </a:extLst>
              </a:tr>
              <a:tr h="370840">
                <a:tc>
                  <a:txBody>
                    <a:bodyPr/>
                    <a:lstStyle/>
                    <a:p>
                      <a:r>
                        <a:rPr lang="en-US" dirty="0"/>
                        <a:t>2</a:t>
                      </a:r>
                      <a:endParaRPr lang="en-IN" dirty="0"/>
                    </a:p>
                  </a:txBody>
                  <a:tcPr/>
                </a:tc>
                <a:tc>
                  <a:txBody>
                    <a:bodyPr/>
                    <a:lstStyle/>
                    <a:p>
                      <a:r>
                        <a:rPr lang="en-US" dirty="0"/>
                        <a:t>Sarvesh </a:t>
                      </a:r>
                      <a:r>
                        <a:rPr lang="en-US" dirty="0" err="1"/>
                        <a:t>Warule</a:t>
                      </a:r>
                      <a:endParaRPr lang="en-IN" dirty="0"/>
                    </a:p>
                  </a:txBody>
                  <a:tcPr/>
                </a:tc>
                <a:tc>
                  <a:txBody>
                    <a:bodyPr/>
                    <a:lstStyle/>
                    <a:p>
                      <a:r>
                        <a:rPr lang="en-US" dirty="0"/>
                        <a:t>382074</a:t>
                      </a:r>
                      <a:endParaRPr lang="en-IN" dirty="0"/>
                    </a:p>
                  </a:txBody>
                  <a:tcPr/>
                </a:tc>
                <a:tc>
                  <a:txBody>
                    <a:bodyPr/>
                    <a:lstStyle/>
                    <a:p>
                      <a:r>
                        <a:rPr lang="en-US" dirty="0"/>
                        <a:t>22420229</a:t>
                      </a:r>
                      <a:endParaRPr lang="en-IN" dirty="0"/>
                    </a:p>
                  </a:txBody>
                  <a:tcPr/>
                </a:tc>
                <a:extLst>
                  <a:ext uri="{0D108BD9-81ED-4DB2-BD59-A6C34878D82A}">
                    <a16:rowId xmlns:a16="http://schemas.microsoft.com/office/drawing/2014/main" val="4252967135"/>
                  </a:ext>
                </a:extLst>
              </a:tr>
              <a:tr h="370840">
                <a:tc>
                  <a:txBody>
                    <a:bodyPr/>
                    <a:lstStyle/>
                    <a:p>
                      <a:r>
                        <a:rPr lang="en-US" dirty="0"/>
                        <a:t>3</a:t>
                      </a:r>
                      <a:endParaRPr lang="en-IN" dirty="0"/>
                    </a:p>
                  </a:txBody>
                  <a:tcPr/>
                </a:tc>
                <a:tc>
                  <a:txBody>
                    <a:bodyPr/>
                    <a:lstStyle/>
                    <a:p>
                      <a:r>
                        <a:rPr lang="en-US" dirty="0"/>
                        <a:t>Tanmay Tambe</a:t>
                      </a:r>
                      <a:endParaRPr lang="en-IN" dirty="0"/>
                    </a:p>
                  </a:txBody>
                  <a:tcPr/>
                </a:tc>
                <a:tc>
                  <a:txBody>
                    <a:bodyPr/>
                    <a:lstStyle/>
                    <a:p>
                      <a:r>
                        <a:rPr lang="en-US" dirty="0"/>
                        <a:t>382072</a:t>
                      </a:r>
                      <a:endParaRPr lang="en-IN" dirty="0"/>
                    </a:p>
                  </a:txBody>
                  <a:tcPr/>
                </a:tc>
                <a:tc>
                  <a:txBody>
                    <a:bodyPr/>
                    <a:lstStyle/>
                    <a:p>
                      <a:r>
                        <a:rPr lang="en-US" dirty="0"/>
                        <a:t>22420169</a:t>
                      </a:r>
                      <a:endParaRPr lang="en-IN" dirty="0"/>
                    </a:p>
                  </a:txBody>
                  <a:tcPr/>
                </a:tc>
                <a:extLst>
                  <a:ext uri="{0D108BD9-81ED-4DB2-BD59-A6C34878D82A}">
                    <a16:rowId xmlns:a16="http://schemas.microsoft.com/office/drawing/2014/main" val="955567793"/>
                  </a:ext>
                </a:extLst>
              </a:tr>
              <a:tr h="370840">
                <a:tc>
                  <a:txBody>
                    <a:bodyPr/>
                    <a:lstStyle/>
                    <a:p>
                      <a:r>
                        <a:rPr lang="en-US" dirty="0"/>
                        <a:t>4</a:t>
                      </a:r>
                      <a:endParaRPr lang="en-IN" dirty="0"/>
                    </a:p>
                  </a:txBody>
                  <a:tcPr/>
                </a:tc>
                <a:tc>
                  <a:txBody>
                    <a:bodyPr/>
                    <a:lstStyle/>
                    <a:p>
                      <a:r>
                        <a:rPr lang="en-US" dirty="0" err="1"/>
                        <a:t>Ayush</a:t>
                      </a:r>
                      <a:r>
                        <a:rPr lang="en-US" baseline="0" dirty="0"/>
                        <a:t> </a:t>
                      </a:r>
                      <a:r>
                        <a:rPr lang="en-US" baseline="0" dirty="0" err="1"/>
                        <a:t>Munot</a:t>
                      </a:r>
                      <a:endParaRPr lang="en-IN" dirty="0"/>
                    </a:p>
                  </a:txBody>
                  <a:tcPr/>
                </a:tc>
                <a:tc>
                  <a:txBody>
                    <a:bodyPr/>
                    <a:lstStyle/>
                    <a:p>
                      <a:r>
                        <a:rPr lang="en-US" dirty="0"/>
                        <a:t>382053</a:t>
                      </a:r>
                      <a:endParaRPr lang="en-IN" dirty="0"/>
                    </a:p>
                  </a:txBody>
                  <a:tcPr/>
                </a:tc>
                <a:tc>
                  <a:txBody>
                    <a:bodyPr/>
                    <a:lstStyle/>
                    <a:p>
                      <a:r>
                        <a:rPr lang="en-US" dirty="0"/>
                        <a:t>22311649</a:t>
                      </a:r>
                      <a:endParaRPr lang="en-IN" dirty="0"/>
                    </a:p>
                  </a:txBody>
                  <a:tcPr/>
                </a:tc>
                <a:extLst>
                  <a:ext uri="{0D108BD9-81ED-4DB2-BD59-A6C34878D82A}">
                    <a16:rowId xmlns:a16="http://schemas.microsoft.com/office/drawing/2014/main" val="2283210323"/>
                  </a:ext>
                </a:extLst>
              </a:tr>
            </a:tbl>
          </a:graphicData>
        </a:graphic>
      </p:graphicFrame>
    </p:spTree>
    <p:extLst>
      <p:ext uri="{BB962C8B-B14F-4D97-AF65-F5344CB8AC3E}">
        <p14:creationId xmlns:p14="http://schemas.microsoft.com/office/powerpoint/2010/main" val="972753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5C6C5E2-3D92-BECC-408D-B73544C5E8B4}"/>
              </a:ext>
            </a:extLst>
          </p:cNvPr>
          <p:cNvSpPr/>
          <p:nvPr/>
        </p:nvSpPr>
        <p:spPr>
          <a:xfrm>
            <a:off x="7434852" y="413232"/>
            <a:ext cx="4689816" cy="57320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1" dirty="0"/>
          </a:p>
        </p:txBody>
      </p:sp>
      <p:grpSp>
        <p:nvGrpSpPr>
          <p:cNvPr id="18" name="Group 17">
            <a:extLst>
              <a:ext uri="{FF2B5EF4-FFF2-40B4-BE49-F238E27FC236}">
                <a16:creationId xmlns:a16="http://schemas.microsoft.com/office/drawing/2014/main" id="{005E91A5-B8EF-AD98-4D39-D0AE1C65B3B8}"/>
              </a:ext>
            </a:extLst>
          </p:cNvPr>
          <p:cNvGrpSpPr/>
          <p:nvPr/>
        </p:nvGrpSpPr>
        <p:grpSpPr>
          <a:xfrm>
            <a:off x="7681374" y="468178"/>
            <a:ext cx="2988860" cy="451899"/>
            <a:chOff x="4679586" y="878988"/>
            <a:chExt cx="1434489" cy="190500"/>
          </a:xfrm>
        </p:grpSpPr>
        <p:sp>
          <p:nvSpPr>
            <p:cNvPr id="19" name="Oval 18">
              <a:extLst>
                <a:ext uri="{FF2B5EF4-FFF2-40B4-BE49-F238E27FC236}">
                  <a16:creationId xmlns:a16="http://schemas.microsoft.com/office/drawing/2014/main" id="{076790EC-FB7C-BF1D-514A-53AB4C909CED}"/>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0" name="Oval 19">
              <a:extLst>
                <a:ext uri="{FF2B5EF4-FFF2-40B4-BE49-F238E27FC236}">
                  <a16:creationId xmlns:a16="http://schemas.microsoft.com/office/drawing/2014/main" id="{4BC8DB93-2869-27FA-0F73-F7EAA6FC8C06}"/>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1" name="Oval 20">
              <a:extLst>
                <a:ext uri="{FF2B5EF4-FFF2-40B4-BE49-F238E27FC236}">
                  <a16:creationId xmlns:a16="http://schemas.microsoft.com/office/drawing/2014/main" id="{0B63D63D-BA2E-2923-5B95-91D2E0D7F7B5}"/>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2" name="Oval 21">
              <a:extLst>
                <a:ext uri="{FF2B5EF4-FFF2-40B4-BE49-F238E27FC236}">
                  <a16:creationId xmlns:a16="http://schemas.microsoft.com/office/drawing/2014/main" id="{7B20ED69-16AC-985F-9749-D4B0939C889E}"/>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3" name="Oval 22">
              <a:extLst>
                <a:ext uri="{FF2B5EF4-FFF2-40B4-BE49-F238E27FC236}">
                  <a16:creationId xmlns:a16="http://schemas.microsoft.com/office/drawing/2014/main" id="{58B73F97-42B9-CAF7-8DC6-CB8ACBCABDFB}"/>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28" name="Title 2">
            <a:extLst>
              <a:ext uri="{FF2B5EF4-FFF2-40B4-BE49-F238E27FC236}">
                <a16:creationId xmlns:a16="http://schemas.microsoft.com/office/drawing/2014/main" id="{0E0A3E4E-4296-8537-8417-521FACC24783}"/>
              </a:ext>
            </a:extLst>
          </p:cNvPr>
          <p:cNvSpPr txBox="1">
            <a:spLocks/>
          </p:cNvSpPr>
          <p:nvPr/>
        </p:nvSpPr>
        <p:spPr>
          <a:xfrm>
            <a:off x="782296" y="483005"/>
            <a:ext cx="4514599" cy="78912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eaLnBrk="0" fontAlgn="base" hangingPunct="0">
              <a:spcAft>
                <a:spcPct val="0"/>
              </a:spcAft>
            </a:pPr>
            <a:r>
              <a:rPr lang="en-US" sz="3600" b="1" dirty="0">
                <a:solidFill>
                  <a:schemeClr val="accent1"/>
                </a:solidFill>
                <a:latin typeface="Times New Roman" panose="02020603050405020304" pitchFamily="18" charset="0"/>
                <a:ea typeface="+mn-ea"/>
                <a:cs typeface="Times New Roman" panose="02020603050405020304" pitchFamily="18" charset="0"/>
              </a:rPr>
              <a:t>INTRODUCTION</a:t>
            </a:r>
            <a:endParaRPr lang="en-IN" sz="3800" b="1" dirty="0">
              <a:solidFill>
                <a:schemeClr val="accent1"/>
              </a:solidFill>
              <a:latin typeface="Times New Roman" panose="02020603050405020304" pitchFamily="18" charset="0"/>
              <a:ea typeface="+mn-ea"/>
              <a:cs typeface="Times New Roman" panose="02020603050405020304" pitchFamily="18" charset="0"/>
            </a:endParaRPr>
          </a:p>
        </p:txBody>
      </p:sp>
      <p:sp>
        <p:nvSpPr>
          <p:cNvPr id="29" name="Rectangle 1">
            <a:extLst>
              <a:ext uri="{FF2B5EF4-FFF2-40B4-BE49-F238E27FC236}">
                <a16:creationId xmlns:a16="http://schemas.microsoft.com/office/drawing/2014/main" id="{CBA2CBB2-6DAF-5255-621D-3B7704BA2112}"/>
              </a:ext>
            </a:extLst>
          </p:cNvPr>
          <p:cNvSpPr>
            <a:spLocks noChangeArrowheads="1"/>
          </p:cNvSpPr>
          <p:nvPr/>
        </p:nvSpPr>
        <p:spPr bwMode="auto">
          <a:xfrm>
            <a:off x="782296" y="1117602"/>
            <a:ext cx="1062740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dirty="0">
                <a:latin typeface="Times New Roman" panose="02020603050405020304" pitchFamily="18" charset="0"/>
                <a:cs typeface="Times New Roman" panose="02020603050405020304" pitchFamily="18" charset="0"/>
              </a:rPr>
              <a:t>This project focuses on building an AI-powered medical transcription system that automatically converts doctor–patient conversations into structured, role-aware transcripts. The pipeline integrates speech-to-text transcription (Whisper), speaker </a:t>
            </a:r>
            <a:r>
              <a:rPr lang="en-US" dirty="0" err="1">
                <a:latin typeface="Times New Roman" panose="02020603050405020304" pitchFamily="18" charset="0"/>
                <a:cs typeface="Times New Roman" panose="02020603050405020304" pitchFamily="18" charset="0"/>
              </a:rPr>
              <a:t>diarization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Pyannote</a:t>
            </a:r>
            <a:r>
              <a:rPr lang="en-US" dirty="0">
                <a:latin typeface="Times New Roman" panose="02020603050405020304" pitchFamily="18" charset="0"/>
                <a:cs typeface="Times New Roman" panose="02020603050405020304" pitchFamily="18" charset="0"/>
              </a:rPr>
              <a:t>), and a fine-tuned </a:t>
            </a:r>
            <a:r>
              <a:rPr lang="en-US" dirty="0" err="1">
                <a:latin typeface="Times New Roman" panose="02020603050405020304" pitchFamily="18" charset="0"/>
                <a:cs typeface="Times New Roman" panose="02020603050405020304" pitchFamily="18" charset="0"/>
              </a:rPr>
              <a:t>Bio_ClinicalBERT</a:t>
            </a:r>
            <a:r>
              <a:rPr lang="en-US" dirty="0">
                <a:latin typeface="Times New Roman" panose="02020603050405020304" pitchFamily="18" charset="0"/>
                <a:cs typeface="Times New Roman" panose="02020603050405020304" pitchFamily="18" charset="0"/>
              </a:rPr>
              <a:t> model to classify each utterance as either doctor or patient. Finally, it leverages Google Gemini to generate concise, patient-friendly summaries of the consultation, which can also be securely emailed. The solution improves clinical documentation efficiency, reduces administrative burden, and ensures that both doctors and patients have clear, accessible records of medical interactions.</a:t>
            </a:r>
          </a:p>
        </p:txBody>
      </p:sp>
      <p:sp>
        <p:nvSpPr>
          <p:cNvPr id="33" name="TextBox 32">
            <a:extLst>
              <a:ext uri="{FF2B5EF4-FFF2-40B4-BE49-F238E27FC236}">
                <a16:creationId xmlns:a16="http://schemas.microsoft.com/office/drawing/2014/main" id="{A305C97D-1372-F048-AE85-B32172A17070}"/>
              </a:ext>
            </a:extLst>
          </p:cNvPr>
          <p:cNvSpPr txBox="1"/>
          <p:nvPr/>
        </p:nvSpPr>
        <p:spPr>
          <a:xfrm>
            <a:off x="772916" y="3251200"/>
            <a:ext cx="6096000" cy="584775"/>
          </a:xfrm>
          <a:prstGeom prst="rect">
            <a:avLst/>
          </a:prstGeom>
          <a:noFill/>
        </p:spPr>
        <p:txBody>
          <a:bodyPr wrap="square">
            <a:spAutoFit/>
          </a:bodyPr>
          <a:lstStyle/>
          <a:p>
            <a:pPr algn="just" defTabSz="914400" eaLnBrk="0" fontAlgn="base" hangingPunct="0">
              <a:spcBef>
                <a:spcPct val="0"/>
              </a:spcBef>
              <a:spcAft>
                <a:spcPct val="0"/>
              </a:spcAft>
            </a:pPr>
            <a:r>
              <a:rPr lang="en-US" sz="3200" b="1" dirty="0">
                <a:solidFill>
                  <a:schemeClr val="accent1"/>
                </a:solidFill>
                <a:latin typeface="Times New Roman" panose="02020603050405020304" pitchFamily="18" charset="0"/>
                <a:cs typeface="Times New Roman" panose="02020603050405020304" pitchFamily="18" charset="0"/>
                <a:sym typeface="Franklin Gothic"/>
              </a:rPr>
              <a:t>OBJECTIVE</a:t>
            </a:r>
            <a:endParaRPr lang="en-US" sz="3300" b="1" dirty="0">
              <a:solidFill>
                <a:schemeClr val="accent1"/>
              </a:solidFill>
              <a:latin typeface="Times New Roman" panose="02020603050405020304" pitchFamily="18" charset="0"/>
              <a:cs typeface="Times New Roman" panose="02020603050405020304" pitchFamily="18" charset="0"/>
              <a:sym typeface="Franklin Gothic"/>
            </a:endParaRPr>
          </a:p>
        </p:txBody>
      </p:sp>
      <p:pic>
        <p:nvPicPr>
          <p:cNvPr id="2" name="Picture 1" descr="Logo">
            <a:extLst>
              <a:ext uri="{FF2B5EF4-FFF2-40B4-BE49-F238E27FC236}">
                <a16:creationId xmlns:a16="http://schemas.microsoft.com/office/drawing/2014/main" id="{04367983-70C9-9EF8-EBDF-B10F6DDEA9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4" name="Slide Number Placeholder 25">
            <a:extLst>
              <a:ext uri="{FF2B5EF4-FFF2-40B4-BE49-F238E27FC236}">
                <a16:creationId xmlns:a16="http://schemas.microsoft.com/office/drawing/2014/main" id="{6FD8A4FE-4D08-245A-04DD-BB3F9F758383}"/>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4</a:t>
            </a:fld>
            <a:endParaRPr lang="en-IN" dirty="0">
              <a:solidFill>
                <a:schemeClr val="tx1"/>
              </a:solidFill>
            </a:endParaRPr>
          </a:p>
        </p:txBody>
      </p:sp>
      <p:sp>
        <p:nvSpPr>
          <p:cNvPr id="5" name="Rectangle 1">
            <a:extLst>
              <a:ext uri="{FF2B5EF4-FFF2-40B4-BE49-F238E27FC236}">
                <a16:creationId xmlns:a16="http://schemas.microsoft.com/office/drawing/2014/main" id="{9E1A454C-B566-D3A6-5571-EF3093EE1098}"/>
              </a:ext>
            </a:extLst>
          </p:cNvPr>
          <p:cNvSpPr>
            <a:spLocks noChangeArrowheads="1"/>
          </p:cNvSpPr>
          <p:nvPr/>
        </p:nvSpPr>
        <p:spPr bwMode="auto">
          <a:xfrm>
            <a:off x="-41273" y="-4033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The simplicity of producing fake content and its realism have both increased significantly due to exponential advancements in deep learning. Using neural network components like auto encoders and GANs (Generative Adversarial Networks), the technique known as "deep fake" simulates human images by superimposing target pictures onto source videos. The result is a realistic-looking deepfake video that may increase terrorism, political unrest, and extortion. We developed a deep learning-based model that effectively distinguishes real videos from artificially created ones. The proposed method makes use of a Res-Next Convolution neural network to retrieve frame-level characteristics. An LSTM-based Recurrent Neural Network (RNN) is then trained using these attributes to identify the videos according to whether they have been altered or not .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9E4E72AC-C6DF-E15C-B87C-EC3276392EDC}"/>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24" name="TextBox 23"/>
          <p:cNvSpPr txBox="1"/>
          <p:nvPr/>
        </p:nvSpPr>
        <p:spPr>
          <a:xfrm>
            <a:off x="870857" y="3744686"/>
            <a:ext cx="10609943" cy="2446824"/>
          </a:xfrm>
          <a:prstGeom prst="rect">
            <a:avLst/>
          </a:prstGeom>
          <a:noFill/>
        </p:spPr>
        <p:txBody>
          <a:bodyPr wrap="square" rtlCol="0">
            <a:spAutoFit/>
          </a:bodyPr>
          <a:lstStyle/>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Automate Medical Transcription </a:t>
            </a:r>
            <a:r>
              <a:rPr lang="en-US" sz="1700" dirty="0">
                <a:latin typeface="Times New Roman" panose="02020603050405020304" pitchFamily="18" charset="0"/>
                <a:cs typeface="Times New Roman" panose="02020603050405020304" pitchFamily="18" charset="0"/>
              </a:rPr>
              <a:t>– Convert raw doctor–patient conversations into accurate text using Whisper.</a:t>
            </a:r>
          </a:p>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Identify Speakers &amp; Roles </a:t>
            </a:r>
            <a:r>
              <a:rPr lang="en-US" sz="1700" dirty="0">
                <a:latin typeface="Times New Roman" panose="02020603050405020304" pitchFamily="18" charset="0"/>
                <a:cs typeface="Times New Roman" panose="02020603050405020304" pitchFamily="18" charset="0"/>
              </a:rPr>
              <a:t>– Apply </a:t>
            </a:r>
            <a:r>
              <a:rPr lang="en-US" sz="1700" dirty="0" err="1">
                <a:latin typeface="Times New Roman" panose="02020603050405020304" pitchFamily="18" charset="0"/>
                <a:cs typeface="Times New Roman" panose="02020603050405020304" pitchFamily="18" charset="0"/>
              </a:rPr>
              <a:t>diarization</a:t>
            </a:r>
            <a:r>
              <a:rPr lang="en-US" sz="1700" dirty="0">
                <a:latin typeface="Times New Roman" panose="02020603050405020304" pitchFamily="18" charset="0"/>
                <a:cs typeface="Times New Roman" panose="02020603050405020304" pitchFamily="18" charset="0"/>
              </a:rPr>
              <a:t> and fine-tuned </a:t>
            </a:r>
            <a:r>
              <a:rPr lang="en-US" sz="1700" dirty="0" err="1">
                <a:latin typeface="Times New Roman" panose="02020603050405020304" pitchFamily="18" charset="0"/>
                <a:cs typeface="Times New Roman" panose="02020603050405020304" pitchFamily="18" charset="0"/>
              </a:rPr>
              <a:t>BioBERT</a:t>
            </a:r>
            <a:r>
              <a:rPr lang="en-US" sz="1700" dirty="0">
                <a:latin typeface="Times New Roman" panose="02020603050405020304" pitchFamily="18" charset="0"/>
                <a:cs typeface="Times New Roman" panose="02020603050405020304" pitchFamily="18" charset="0"/>
              </a:rPr>
              <a:t> to distinguish between doctor and patient speech.</a:t>
            </a:r>
          </a:p>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Generate Structured Summaries </a:t>
            </a:r>
            <a:r>
              <a:rPr lang="en-US" sz="1700" dirty="0">
                <a:latin typeface="Times New Roman" panose="02020603050405020304" pitchFamily="18" charset="0"/>
                <a:cs typeface="Times New Roman" panose="02020603050405020304" pitchFamily="18" charset="0"/>
              </a:rPr>
              <a:t>– Use Gemini to create concise, role-aware medical summaries for easy reference.</a:t>
            </a:r>
          </a:p>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Enable Multi-Input Audio Handling </a:t>
            </a:r>
            <a:r>
              <a:rPr lang="en-US" sz="1700" dirty="0">
                <a:latin typeface="Times New Roman" panose="02020603050405020304" pitchFamily="18" charset="0"/>
                <a:cs typeface="Times New Roman" panose="02020603050405020304" pitchFamily="18" charset="0"/>
              </a:rPr>
              <a:t>– Support both uploaded audio files and live in-app recording with auto conversion to .wav.</a:t>
            </a:r>
          </a:p>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Facilitate Information Sharing </a:t>
            </a:r>
            <a:r>
              <a:rPr lang="en-US" sz="1700" dirty="0">
                <a:latin typeface="Times New Roman" panose="02020603050405020304" pitchFamily="18" charset="0"/>
                <a:cs typeface="Times New Roman" panose="02020603050405020304" pitchFamily="18" charset="0"/>
              </a:rPr>
              <a:t>– Provide an option to securely send consultation summaries to patients via email.</a:t>
            </a:r>
          </a:p>
          <a:p>
            <a:pPr algn="just">
              <a:buFont typeface="Arial" pitchFamily="34" charset="0"/>
              <a:buChar char="•"/>
            </a:pPr>
            <a:r>
              <a:rPr lang="en-US" sz="1700" b="1" dirty="0">
                <a:latin typeface="Times New Roman" panose="02020603050405020304" pitchFamily="18" charset="0"/>
                <a:cs typeface="Times New Roman" panose="02020603050405020304" pitchFamily="18" charset="0"/>
              </a:rPr>
              <a:t>Improve Clinical Efficiency </a:t>
            </a:r>
            <a:r>
              <a:rPr lang="en-US" sz="1700" dirty="0">
                <a:latin typeface="Times New Roman" panose="02020603050405020304" pitchFamily="18" charset="0"/>
                <a:cs typeface="Times New Roman" panose="02020603050405020304" pitchFamily="18" charset="0"/>
              </a:rPr>
              <a:t>– Reduce manual documentation workload, ensuring doctors spend more time with patients.</a:t>
            </a:r>
          </a:p>
        </p:txBody>
      </p:sp>
    </p:spTree>
    <p:extLst>
      <p:ext uri="{BB962C8B-B14F-4D97-AF65-F5344CB8AC3E}">
        <p14:creationId xmlns:p14="http://schemas.microsoft.com/office/powerpoint/2010/main" val="2147536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17C72B-421F-C733-1243-B843DAF17783}"/>
              </a:ext>
            </a:extLst>
          </p:cNvPr>
          <p:cNvSpPr/>
          <p:nvPr/>
        </p:nvSpPr>
        <p:spPr>
          <a:xfrm>
            <a:off x="7443241" y="413232"/>
            <a:ext cx="4689816" cy="57320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1" dirty="0"/>
          </a:p>
        </p:txBody>
      </p:sp>
      <p:grpSp>
        <p:nvGrpSpPr>
          <p:cNvPr id="3" name="Group 2">
            <a:extLst>
              <a:ext uri="{FF2B5EF4-FFF2-40B4-BE49-F238E27FC236}">
                <a16:creationId xmlns:a16="http://schemas.microsoft.com/office/drawing/2014/main" id="{4479CBE4-33F5-A3FB-10B4-90B9749C1B44}"/>
              </a:ext>
            </a:extLst>
          </p:cNvPr>
          <p:cNvGrpSpPr/>
          <p:nvPr/>
        </p:nvGrpSpPr>
        <p:grpSpPr>
          <a:xfrm>
            <a:off x="7681374" y="468178"/>
            <a:ext cx="2988860" cy="451899"/>
            <a:chOff x="4679586" y="878988"/>
            <a:chExt cx="1434489" cy="190500"/>
          </a:xfrm>
        </p:grpSpPr>
        <p:sp>
          <p:nvSpPr>
            <p:cNvPr id="4" name="Oval 3">
              <a:extLst>
                <a:ext uri="{FF2B5EF4-FFF2-40B4-BE49-F238E27FC236}">
                  <a16:creationId xmlns:a16="http://schemas.microsoft.com/office/drawing/2014/main" id="{3D24C42F-1B41-454D-9FE6-69DEE9619287}"/>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 name="Oval 4">
              <a:extLst>
                <a:ext uri="{FF2B5EF4-FFF2-40B4-BE49-F238E27FC236}">
                  <a16:creationId xmlns:a16="http://schemas.microsoft.com/office/drawing/2014/main" id="{7755E1A3-4FC2-B7AB-C39C-B0498C9CF060}"/>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Oval 5">
              <a:extLst>
                <a:ext uri="{FF2B5EF4-FFF2-40B4-BE49-F238E27FC236}">
                  <a16:creationId xmlns:a16="http://schemas.microsoft.com/office/drawing/2014/main" id="{6CD445B4-9041-E4CF-2C4E-203219913A57}"/>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Oval 6">
              <a:extLst>
                <a:ext uri="{FF2B5EF4-FFF2-40B4-BE49-F238E27FC236}">
                  <a16:creationId xmlns:a16="http://schemas.microsoft.com/office/drawing/2014/main" id="{043A8858-42F3-5664-6E4A-DDEB053F0C3C}"/>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 name="Oval 7">
              <a:extLst>
                <a:ext uri="{FF2B5EF4-FFF2-40B4-BE49-F238E27FC236}">
                  <a16:creationId xmlns:a16="http://schemas.microsoft.com/office/drawing/2014/main" id="{34019996-4C0B-67EB-3878-E75D74BFD261}"/>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pic>
        <p:nvPicPr>
          <p:cNvPr id="9" name="Picture 8" descr="Logo">
            <a:extLst>
              <a:ext uri="{FF2B5EF4-FFF2-40B4-BE49-F238E27FC236}">
                <a16:creationId xmlns:a16="http://schemas.microsoft.com/office/drawing/2014/main" id="{D3E78DA9-BB62-EB4E-74A2-841745CD2C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11" name="Slide Number Placeholder 25">
            <a:extLst>
              <a:ext uri="{FF2B5EF4-FFF2-40B4-BE49-F238E27FC236}">
                <a16:creationId xmlns:a16="http://schemas.microsoft.com/office/drawing/2014/main" id="{2290569A-9635-4202-A471-08CAA885859E}"/>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5</a:t>
            </a:fld>
            <a:endParaRPr lang="en-IN" dirty="0">
              <a:solidFill>
                <a:schemeClr val="tx1"/>
              </a:solidFill>
            </a:endParaRPr>
          </a:p>
        </p:txBody>
      </p:sp>
      <p:sp>
        <p:nvSpPr>
          <p:cNvPr id="12" name="Title 2">
            <a:extLst>
              <a:ext uri="{FF2B5EF4-FFF2-40B4-BE49-F238E27FC236}">
                <a16:creationId xmlns:a16="http://schemas.microsoft.com/office/drawing/2014/main" id="{8B34AC3D-9179-4C83-A435-D35F056BA826}"/>
              </a:ext>
            </a:extLst>
          </p:cNvPr>
          <p:cNvSpPr txBox="1">
            <a:spLocks/>
          </p:cNvSpPr>
          <p:nvPr/>
        </p:nvSpPr>
        <p:spPr>
          <a:xfrm>
            <a:off x="1219803" y="413232"/>
            <a:ext cx="6581648" cy="78912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eaLnBrk="0" fontAlgn="base" hangingPunct="0">
              <a:spcAft>
                <a:spcPct val="0"/>
              </a:spcAft>
            </a:pPr>
            <a:r>
              <a:rPr lang="en-US" sz="4000" b="1" dirty="0">
                <a:solidFill>
                  <a:schemeClr val="accent1"/>
                </a:solidFill>
                <a:latin typeface="Times New Roman" panose="02020603050405020304" pitchFamily="18" charset="0"/>
                <a:ea typeface="+mn-ea"/>
                <a:cs typeface="Times New Roman" panose="02020603050405020304" pitchFamily="18" charset="0"/>
              </a:rPr>
              <a:t>LITERATURE SURVEY</a:t>
            </a:r>
            <a:endParaRPr lang="en-IN" sz="4000" b="1" dirty="0">
              <a:solidFill>
                <a:schemeClr val="accent1"/>
              </a:solidFill>
              <a:latin typeface="Times New Roman" panose="02020603050405020304" pitchFamily="18" charset="0"/>
              <a:ea typeface="+mn-ea"/>
              <a:cs typeface="Times New Roman" panose="02020603050405020304" pitchFamily="18" charset="0"/>
            </a:endParaRPr>
          </a:p>
        </p:txBody>
      </p:sp>
      <p:sp>
        <p:nvSpPr>
          <p:cNvPr id="14" name="Rectangle 13">
            <a:extLst>
              <a:ext uri="{FF2B5EF4-FFF2-40B4-BE49-F238E27FC236}">
                <a16:creationId xmlns:a16="http://schemas.microsoft.com/office/drawing/2014/main" id="{F4A8CA1D-C32C-11A7-335F-A72F0E8C48A9}"/>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65FD5665-1968-9E70-4CCA-751E8F560E2D}"/>
              </a:ext>
            </a:extLst>
          </p:cNvPr>
          <p:cNvGraphicFramePr>
            <a:graphicFrameLocks noGrp="1"/>
          </p:cNvGraphicFramePr>
          <p:nvPr>
            <p:extLst>
              <p:ext uri="{D42A27DB-BD31-4B8C-83A1-F6EECF244321}">
                <p14:modId xmlns:p14="http://schemas.microsoft.com/office/powerpoint/2010/main" val="3818042245"/>
              </p:ext>
            </p:extLst>
          </p:nvPr>
        </p:nvGraphicFramePr>
        <p:xfrm>
          <a:off x="1219802" y="1339787"/>
          <a:ext cx="10283350" cy="4784182"/>
        </p:xfrm>
        <a:graphic>
          <a:graphicData uri="http://schemas.openxmlformats.org/drawingml/2006/table">
            <a:tbl>
              <a:tblPr firstRow="1" bandRow="1">
                <a:tableStyleId>{5C22544A-7EE6-4342-B048-85BDC9FD1C3A}</a:tableStyleId>
              </a:tblPr>
              <a:tblGrid>
                <a:gridCol w="2570837">
                  <a:extLst>
                    <a:ext uri="{9D8B030D-6E8A-4147-A177-3AD203B41FA5}">
                      <a16:colId xmlns:a16="http://schemas.microsoft.com/office/drawing/2014/main" val="1951227339"/>
                    </a:ext>
                  </a:extLst>
                </a:gridCol>
                <a:gridCol w="3111898">
                  <a:extLst>
                    <a:ext uri="{9D8B030D-6E8A-4147-A177-3AD203B41FA5}">
                      <a16:colId xmlns:a16="http://schemas.microsoft.com/office/drawing/2014/main" val="3288679257"/>
                    </a:ext>
                  </a:extLst>
                </a:gridCol>
                <a:gridCol w="2029776">
                  <a:extLst>
                    <a:ext uri="{9D8B030D-6E8A-4147-A177-3AD203B41FA5}">
                      <a16:colId xmlns:a16="http://schemas.microsoft.com/office/drawing/2014/main" val="1580658357"/>
                    </a:ext>
                  </a:extLst>
                </a:gridCol>
                <a:gridCol w="2570839">
                  <a:extLst>
                    <a:ext uri="{9D8B030D-6E8A-4147-A177-3AD203B41FA5}">
                      <a16:colId xmlns:a16="http://schemas.microsoft.com/office/drawing/2014/main" val="2967857129"/>
                    </a:ext>
                  </a:extLst>
                </a:gridCol>
              </a:tblGrid>
              <a:tr h="852262">
                <a:tc>
                  <a:txBody>
                    <a:bodyPr/>
                    <a:lstStyle/>
                    <a:p>
                      <a:pPr algn="ctr"/>
                      <a:r>
                        <a:rPr lang="en-US" sz="1400" dirty="0">
                          <a:latin typeface="Times New Roman" panose="02020603050405020304" pitchFamily="18" charset="0"/>
                          <a:cs typeface="Times New Roman" panose="02020603050405020304" pitchFamily="18" charset="0"/>
                        </a:rPr>
                        <a:t>Title</a:t>
                      </a:r>
                    </a:p>
                  </a:txBody>
                  <a:tcPr/>
                </a:tc>
                <a:tc>
                  <a:txBody>
                    <a:bodyPr/>
                    <a:lstStyle/>
                    <a:p>
                      <a:pPr algn="ctr"/>
                      <a:r>
                        <a:rPr lang="en-US" sz="1400" dirty="0">
                          <a:latin typeface="Times New Roman" panose="02020603050405020304" pitchFamily="18" charset="0"/>
                          <a:cs typeface="Times New Roman" panose="02020603050405020304" pitchFamily="18" charset="0"/>
                        </a:rPr>
                        <a:t>Methodology</a:t>
                      </a:r>
                    </a:p>
                  </a:txBody>
                  <a:tcPr/>
                </a:tc>
                <a:tc>
                  <a:txBody>
                    <a:bodyPr/>
                    <a:lstStyle/>
                    <a:p>
                      <a:pPr algn="ctr"/>
                      <a:r>
                        <a:rPr lang="en-US" sz="1400" dirty="0">
                          <a:latin typeface="Times New Roman" panose="02020603050405020304" pitchFamily="18" charset="0"/>
                          <a:cs typeface="Times New Roman" panose="02020603050405020304" pitchFamily="18" charset="0"/>
                        </a:rPr>
                        <a:t>Gaps</a:t>
                      </a:r>
                    </a:p>
                  </a:txBody>
                  <a:tcPr/>
                </a:tc>
                <a:tc>
                  <a:txBody>
                    <a:bodyPr/>
                    <a:lstStyle/>
                    <a:p>
                      <a:pPr algn="ctr"/>
                      <a:r>
                        <a:rPr lang="en-US" sz="1400"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1428553361"/>
                  </a:ext>
                </a:extLst>
              </a:tr>
              <a:tr h="3767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rPr>
                        <a:t>Dr. Summarize: Global Summarization of Medical Dialogue by Exploiting Local Structures </a:t>
                      </a:r>
                    </a:p>
                    <a:p>
                      <a:pPr algn="l"/>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Dr. Summarizer</a:t>
                      </a:r>
                      <a:r>
                        <a:rPr lang="en-US" sz="1400" dirty="0">
                          <a:latin typeface="Times New Roman" panose="02020603050405020304" pitchFamily="18" charset="0"/>
                          <a:cs typeface="Times New Roman" panose="02020603050405020304" pitchFamily="18" charset="0"/>
                        </a:rPr>
                        <a:t> is a tool that creates short summaries of conversations between doctors and patients. It starts with written (text) conversations that are already typed or transcribed. It first cleans the text and separates what the doctor and patient said. Then, it uses NLP (Natural Language Processing) to find important details like symptoms, medicines, and advice. After that, it uses AI models (like BERT or T5) to turn this information into a short, easy-to-read summary that highlights the main points of the conversation.</a:t>
                      </a:r>
                    </a:p>
                    <a:p>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rPr>
                        <a:t>The "Dr. Summarizer" system has several limitations, including its reliance solely on pre-written textual dialogues without support for real-time or audio-based inputs. It lacks integration with speech-to-text capabilities, does not perform medical term extraction or intent classification, and generates only generic summaries without structured output</a:t>
                      </a:r>
                    </a:p>
                    <a:p>
                      <a:endParaRPr lang="en-US"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rPr>
                        <a:t>The results of the "Dr. Summarizer“ system demonstrated that it could generate concise summaries from predefined textual doctor-patient conversations using transformer-based models. The summaries preserved key information and improved readability for clinical documentation. However, the effectiveness was constrained by the quality and format of input text, and the system showed limitations in handling diverse  conversational styles or unstructured dialogue formats typically found in real-world settings</a:t>
                      </a:r>
                      <a:endParaRPr lang="en-US"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59557424"/>
                  </a:ext>
                </a:extLst>
              </a:tr>
            </a:tbl>
          </a:graphicData>
        </a:graphic>
      </p:graphicFrame>
    </p:spTree>
    <p:extLst>
      <p:ext uri="{BB962C8B-B14F-4D97-AF65-F5344CB8AC3E}">
        <p14:creationId xmlns:p14="http://schemas.microsoft.com/office/powerpoint/2010/main" val="95516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17C72B-421F-C733-1243-B843DAF17783}"/>
              </a:ext>
            </a:extLst>
          </p:cNvPr>
          <p:cNvSpPr/>
          <p:nvPr/>
        </p:nvSpPr>
        <p:spPr>
          <a:xfrm>
            <a:off x="7434852" y="413232"/>
            <a:ext cx="4689816" cy="57320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1" dirty="0"/>
          </a:p>
        </p:txBody>
      </p:sp>
      <p:grpSp>
        <p:nvGrpSpPr>
          <p:cNvPr id="3" name="Group 2">
            <a:extLst>
              <a:ext uri="{FF2B5EF4-FFF2-40B4-BE49-F238E27FC236}">
                <a16:creationId xmlns:a16="http://schemas.microsoft.com/office/drawing/2014/main" id="{4479CBE4-33F5-A3FB-10B4-90B9749C1B44}"/>
              </a:ext>
            </a:extLst>
          </p:cNvPr>
          <p:cNvGrpSpPr/>
          <p:nvPr/>
        </p:nvGrpSpPr>
        <p:grpSpPr>
          <a:xfrm>
            <a:off x="7681374" y="468178"/>
            <a:ext cx="2988860" cy="451899"/>
            <a:chOff x="4679586" y="878988"/>
            <a:chExt cx="1434489" cy="190500"/>
          </a:xfrm>
        </p:grpSpPr>
        <p:sp>
          <p:nvSpPr>
            <p:cNvPr id="4" name="Oval 3">
              <a:extLst>
                <a:ext uri="{FF2B5EF4-FFF2-40B4-BE49-F238E27FC236}">
                  <a16:creationId xmlns:a16="http://schemas.microsoft.com/office/drawing/2014/main" id="{3D24C42F-1B41-454D-9FE6-69DEE9619287}"/>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 name="Oval 4">
              <a:extLst>
                <a:ext uri="{FF2B5EF4-FFF2-40B4-BE49-F238E27FC236}">
                  <a16:creationId xmlns:a16="http://schemas.microsoft.com/office/drawing/2014/main" id="{7755E1A3-4FC2-B7AB-C39C-B0498C9CF060}"/>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Oval 5">
              <a:extLst>
                <a:ext uri="{FF2B5EF4-FFF2-40B4-BE49-F238E27FC236}">
                  <a16:creationId xmlns:a16="http://schemas.microsoft.com/office/drawing/2014/main" id="{6CD445B4-9041-E4CF-2C4E-203219913A57}"/>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Oval 6">
              <a:extLst>
                <a:ext uri="{FF2B5EF4-FFF2-40B4-BE49-F238E27FC236}">
                  <a16:creationId xmlns:a16="http://schemas.microsoft.com/office/drawing/2014/main" id="{043A8858-42F3-5664-6E4A-DDEB053F0C3C}"/>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 name="Oval 7">
              <a:extLst>
                <a:ext uri="{FF2B5EF4-FFF2-40B4-BE49-F238E27FC236}">
                  <a16:creationId xmlns:a16="http://schemas.microsoft.com/office/drawing/2014/main" id="{34019996-4C0B-67EB-3878-E75D74BFD261}"/>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pic>
        <p:nvPicPr>
          <p:cNvPr id="9" name="Picture 8" descr="Logo">
            <a:extLst>
              <a:ext uri="{FF2B5EF4-FFF2-40B4-BE49-F238E27FC236}">
                <a16:creationId xmlns:a16="http://schemas.microsoft.com/office/drawing/2014/main" id="{D3E78DA9-BB62-EB4E-74A2-841745CD2C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11" name="Slide Number Placeholder 25">
            <a:extLst>
              <a:ext uri="{FF2B5EF4-FFF2-40B4-BE49-F238E27FC236}">
                <a16:creationId xmlns:a16="http://schemas.microsoft.com/office/drawing/2014/main" id="{2290569A-9635-4202-A471-08CAA885859E}"/>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6</a:t>
            </a:fld>
            <a:endParaRPr lang="en-IN" dirty="0">
              <a:solidFill>
                <a:schemeClr val="tx1"/>
              </a:solidFill>
            </a:endParaRPr>
          </a:p>
        </p:txBody>
      </p:sp>
      <p:sp>
        <p:nvSpPr>
          <p:cNvPr id="12" name="Title 2">
            <a:extLst>
              <a:ext uri="{FF2B5EF4-FFF2-40B4-BE49-F238E27FC236}">
                <a16:creationId xmlns:a16="http://schemas.microsoft.com/office/drawing/2014/main" id="{8B34AC3D-9179-4C83-A435-D35F056BA826}"/>
              </a:ext>
            </a:extLst>
          </p:cNvPr>
          <p:cNvSpPr txBox="1">
            <a:spLocks/>
          </p:cNvSpPr>
          <p:nvPr/>
        </p:nvSpPr>
        <p:spPr>
          <a:xfrm>
            <a:off x="1219803" y="413232"/>
            <a:ext cx="6581648" cy="78912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eaLnBrk="0" fontAlgn="base" hangingPunct="0">
              <a:spcAft>
                <a:spcPct val="0"/>
              </a:spcAft>
            </a:pPr>
            <a:r>
              <a:rPr lang="en-US" sz="4000" b="1" dirty="0">
                <a:solidFill>
                  <a:schemeClr val="accent1"/>
                </a:solidFill>
                <a:latin typeface="Times New Roman" panose="02020603050405020304" pitchFamily="18" charset="0"/>
                <a:ea typeface="+mn-ea"/>
                <a:cs typeface="Times New Roman" panose="02020603050405020304" pitchFamily="18" charset="0"/>
              </a:rPr>
              <a:t>LITERATURE SURVEY</a:t>
            </a:r>
            <a:endParaRPr lang="en-IN" sz="4000" b="1" dirty="0">
              <a:solidFill>
                <a:schemeClr val="accent1"/>
              </a:solidFill>
              <a:latin typeface="Times New Roman" panose="02020603050405020304" pitchFamily="18" charset="0"/>
              <a:ea typeface="+mn-ea"/>
              <a:cs typeface="Times New Roman" panose="02020603050405020304" pitchFamily="18" charset="0"/>
            </a:endParaRPr>
          </a:p>
        </p:txBody>
      </p:sp>
      <p:sp>
        <p:nvSpPr>
          <p:cNvPr id="14" name="Rectangle 13">
            <a:extLst>
              <a:ext uri="{FF2B5EF4-FFF2-40B4-BE49-F238E27FC236}">
                <a16:creationId xmlns:a16="http://schemas.microsoft.com/office/drawing/2014/main" id="{5E592FEE-8E54-41E6-EB2B-86E08820202E}"/>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71345857-6BA8-D1B2-99B4-6454520E7A7B}"/>
              </a:ext>
            </a:extLst>
          </p:cNvPr>
          <p:cNvGraphicFramePr>
            <a:graphicFrameLocks noGrp="1"/>
          </p:cNvGraphicFramePr>
          <p:nvPr>
            <p:extLst>
              <p:ext uri="{D42A27DB-BD31-4B8C-83A1-F6EECF244321}">
                <p14:modId xmlns:p14="http://schemas.microsoft.com/office/powerpoint/2010/main" val="2004328401"/>
              </p:ext>
            </p:extLst>
          </p:nvPr>
        </p:nvGraphicFramePr>
        <p:xfrm>
          <a:off x="679173" y="1339723"/>
          <a:ext cx="11011078" cy="4907089"/>
        </p:xfrm>
        <a:graphic>
          <a:graphicData uri="http://schemas.openxmlformats.org/drawingml/2006/table">
            <a:tbl>
              <a:tblPr firstRow="1" bandRow="1">
                <a:tableStyleId>{5C22544A-7EE6-4342-B048-85BDC9FD1C3A}</a:tableStyleId>
              </a:tblPr>
              <a:tblGrid>
                <a:gridCol w="2359449">
                  <a:extLst>
                    <a:ext uri="{9D8B030D-6E8A-4147-A177-3AD203B41FA5}">
                      <a16:colId xmlns:a16="http://schemas.microsoft.com/office/drawing/2014/main" val="1951227339"/>
                    </a:ext>
                  </a:extLst>
                </a:gridCol>
                <a:gridCol w="2785403">
                  <a:extLst>
                    <a:ext uri="{9D8B030D-6E8A-4147-A177-3AD203B41FA5}">
                      <a16:colId xmlns:a16="http://schemas.microsoft.com/office/drawing/2014/main" val="3288679257"/>
                    </a:ext>
                  </a:extLst>
                </a:gridCol>
                <a:gridCol w="3516923">
                  <a:extLst>
                    <a:ext uri="{9D8B030D-6E8A-4147-A177-3AD203B41FA5}">
                      <a16:colId xmlns:a16="http://schemas.microsoft.com/office/drawing/2014/main" val="1580658357"/>
                    </a:ext>
                  </a:extLst>
                </a:gridCol>
                <a:gridCol w="2349303">
                  <a:extLst>
                    <a:ext uri="{9D8B030D-6E8A-4147-A177-3AD203B41FA5}">
                      <a16:colId xmlns:a16="http://schemas.microsoft.com/office/drawing/2014/main" val="2967857129"/>
                    </a:ext>
                  </a:extLst>
                </a:gridCol>
              </a:tblGrid>
              <a:tr h="807529">
                <a:tc>
                  <a:txBody>
                    <a:bodyPr/>
                    <a:lstStyle/>
                    <a:p>
                      <a:pPr algn="ctr"/>
                      <a:r>
                        <a:rPr lang="en-US" sz="1400" dirty="0">
                          <a:latin typeface="Times New Roman" panose="02020603050405020304" pitchFamily="18" charset="0"/>
                          <a:cs typeface="Times New Roman" panose="02020603050405020304" pitchFamily="18" charset="0"/>
                        </a:rPr>
                        <a:t>Title</a:t>
                      </a:r>
                    </a:p>
                  </a:txBody>
                  <a:tcPr/>
                </a:tc>
                <a:tc>
                  <a:txBody>
                    <a:bodyPr/>
                    <a:lstStyle/>
                    <a:p>
                      <a:pPr algn="ctr"/>
                      <a:r>
                        <a:rPr lang="en-US" sz="1400" dirty="0">
                          <a:latin typeface="Times New Roman" panose="02020603050405020304" pitchFamily="18" charset="0"/>
                          <a:cs typeface="Times New Roman" panose="02020603050405020304" pitchFamily="18" charset="0"/>
                        </a:rPr>
                        <a:t>Methodology</a:t>
                      </a:r>
                    </a:p>
                  </a:txBody>
                  <a:tcPr/>
                </a:tc>
                <a:tc>
                  <a:txBody>
                    <a:bodyPr/>
                    <a:lstStyle/>
                    <a:p>
                      <a:pPr algn="ctr"/>
                      <a:r>
                        <a:rPr lang="en-US" sz="1400" dirty="0">
                          <a:latin typeface="Times New Roman" panose="02020603050405020304" pitchFamily="18" charset="0"/>
                          <a:cs typeface="Times New Roman" panose="02020603050405020304" pitchFamily="18" charset="0"/>
                        </a:rPr>
                        <a:t>Gaps</a:t>
                      </a:r>
                    </a:p>
                  </a:txBody>
                  <a:tcPr/>
                </a:tc>
                <a:tc>
                  <a:txBody>
                    <a:bodyPr/>
                    <a:lstStyle/>
                    <a:p>
                      <a:pPr algn="ctr"/>
                      <a:r>
                        <a:rPr lang="en-US" sz="1400"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1428553361"/>
                  </a:ext>
                </a:extLst>
              </a:tr>
              <a:tr h="35695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 Benchmark for Automatic Medical Consultation System: Frameworks, Tasks and Datasets</a:t>
                      </a:r>
                      <a:endParaRPr lang="en-US" sz="1600" u="none" strike="noStrike" cap="none" dirty="0">
                        <a:latin typeface="Times New Roman" panose="02020603050405020304" pitchFamily="18" charset="0"/>
                        <a:cs typeface="Times New Roman" panose="02020603050405020304" pitchFamily="18" charset="0"/>
                      </a:endParaRPr>
                    </a:p>
                    <a:p>
                      <a:pPr algn="l"/>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rgbClr val="000000"/>
                          </a:solidFill>
                          <a:latin typeface="Times New Roman" panose="02020603050405020304" pitchFamily="18" charset="0"/>
                          <a:ea typeface="+mn-ea"/>
                          <a:cs typeface="Times New Roman" panose="02020603050405020304" pitchFamily="18" charset="0"/>
                          <a:sym typeface="Arial"/>
                        </a:rPr>
                        <a:t>The project uses real doctor-patient dialogues to build an AI medical assistant. It extracts medical terms, classifies each part of the conversation, identifies confirmed symptoms, learns how to ask relevant follow-up questions, and generates a final medical report. Deep learning models like BERT and T5 help in understanding and generating accurate outputs.</a:t>
                      </a:r>
                    </a:p>
                    <a:p>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rgbClr val="000000"/>
                          </a:solidFill>
                          <a:latin typeface="Times New Roman" panose="02020603050405020304" pitchFamily="18" charset="0"/>
                          <a:ea typeface="+mn-ea"/>
                          <a:cs typeface="Times New Roman" panose="02020603050405020304" pitchFamily="18" charset="0"/>
                          <a:sym typeface="Arial"/>
                        </a:rPr>
                        <a:t>The project faces several key challenges. It struggles to accurately identify all symptoms, especially those not clearly stated (implicit symptoms), with a low accuracy of about 37%. It also finds it harder to detect symptoms that are negative or uncertain. The system’s ability to carry out proper diagnosis conversations is still limited, with current models not performing well in detecting hidden symptoms. The patient simulator used is basic and only works with structured data, not natural conversations, which limits realism. Lastly, while the system generates medical reports with good text scores, it still lacks medical accuracy and reasoning ability. These gaps show that more work is needed to improve understanding, diagnosis, and natural conversation handling.</a:t>
                      </a:r>
                    </a:p>
                    <a:p>
                      <a:endParaRPr lang="en-US" sz="1100" b="0" i="0" kern="1200" dirty="0">
                        <a:solidFill>
                          <a:schemeClr val="dk1"/>
                        </a:solidFill>
                        <a:effectLst/>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rgbClr val="000000"/>
                          </a:solidFill>
                          <a:latin typeface="Times New Roman" panose="02020603050405020304" pitchFamily="18" charset="0"/>
                          <a:ea typeface="+mn-ea"/>
                          <a:cs typeface="Times New Roman" panose="02020603050405020304" pitchFamily="18" charset="0"/>
                          <a:sym typeface="Arial"/>
                        </a:rPr>
                        <a:t>The project tested AI models on medical consultation tasks using the IMCS-21 dataset. While models performed well in identifying terms and classifying dialogue, they struggled with symptom inference and reasoning-heavy tasks. Report generation and diagnosis saw moderate success, but there's still room for improvement in understanding complex medical information.</a:t>
                      </a:r>
                    </a:p>
                    <a:p>
                      <a:endParaRPr lang="en-US"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59557424"/>
                  </a:ext>
                </a:extLst>
              </a:tr>
            </a:tbl>
          </a:graphicData>
        </a:graphic>
      </p:graphicFrame>
    </p:spTree>
    <p:extLst>
      <p:ext uri="{BB962C8B-B14F-4D97-AF65-F5344CB8AC3E}">
        <p14:creationId xmlns:p14="http://schemas.microsoft.com/office/powerpoint/2010/main" val="300526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BE2972D-919C-DB48-9F45-129E5C837276}"/>
              </a:ext>
            </a:extLst>
          </p:cNvPr>
          <p:cNvSpPr/>
          <p:nvPr/>
        </p:nvSpPr>
        <p:spPr>
          <a:xfrm>
            <a:off x="5714253" y="190500"/>
            <a:ext cx="3816000" cy="48016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1" dirty="0"/>
          </a:p>
        </p:txBody>
      </p:sp>
      <p:sp>
        <p:nvSpPr>
          <p:cNvPr id="8" name="Google Shape;217;p2">
            <a:extLst>
              <a:ext uri="{FF2B5EF4-FFF2-40B4-BE49-F238E27FC236}">
                <a16:creationId xmlns:a16="http://schemas.microsoft.com/office/drawing/2014/main" id="{A3D9326E-630E-09DC-3256-625B394A5033}"/>
              </a:ext>
            </a:extLst>
          </p:cNvPr>
          <p:cNvSpPr txBox="1">
            <a:spLocks/>
          </p:cNvSpPr>
          <p:nvPr/>
        </p:nvSpPr>
        <p:spPr>
          <a:xfrm>
            <a:off x="2912718" y="84163"/>
            <a:ext cx="6602506" cy="610863"/>
          </a:xfrm>
          <a:prstGeom prst="rect">
            <a:avLst/>
          </a:prstGeom>
          <a:noFill/>
          <a:ln>
            <a:noFill/>
          </a:ln>
        </p:spPr>
        <p:txBody>
          <a:bodyPr spcFirstLastPara="1" wrap="square" lIns="0" tIns="0" rIns="0" bIns="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Bef>
                <a:spcPts val="0"/>
              </a:spcBef>
              <a:buClr>
                <a:schemeClr val="dk1"/>
              </a:buClr>
              <a:buSzPct val="100000"/>
              <a:buFont typeface="Franklin Gothic"/>
              <a:buNone/>
            </a:pPr>
            <a:r>
              <a:rPr lang="en-US" sz="3600" b="1" dirty="0">
                <a:solidFill>
                  <a:srgbClr val="EE9524"/>
                </a:solidFill>
                <a:latin typeface="Times New Roman" panose="02020603050405020304" pitchFamily="18" charset="0"/>
                <a:cs typeface="Times New Roman" panose="02020603050405020304" pitchFamily="18" charset="0"/>
              </a:rPr>
              <a:t>PROJECT </a:t>
            </a:r>
            <a:r>
              <a:rPr lang="en-US" sz="3600" b="1" dirty="0">
                <a:solidFill>
                  <a:schemeClr val="bg1"/>
                </a:solidFill>
                <a:latin typeface="Times New Roman" panose="02020603050405020304" pitchFamily="18" charset="0"/>
                <a:cs typeface="Times New Roman" panose="02020603050405020304" pitchFamily="18" charset="0"/>
              </a:rPr>
              <a:t>ARCHITECTURE</a:t>
            </a:r>
          </a:p>
        </p:txBody>
      </p:sp>
      <p:grpSp>
        <p:nvGrpSpPr>
          <p:cNvPr id="10" name="Group 9">
            <a:extLst>
              <a:ext uri="{FF2B5EF4-FFF2-40B4-BE49-F238E27FC236}">
                <a16:creationId xmlns:a16="http://schemas.microsoft.com/office/drawing/2014/main" id="{1DE536D3-A37C-49C1-2DF1-415A708769D9}"/>
              </a:ext>
            </a:extLst>
          </p:cNvPr>
          <p:cNvGrpSpPr/>
          <p:nvPr/>
        </p:nvGrpSpPr>
        <p:grpSpPr>
          <a:xfrm>
            <a:off x="5439576" y="804713"/>
            <a:ext cx="1434489" cy="190500"/>
            <a:chOff x="4679586" y="878988"/>
            <a:chExt cx="1434489" cy="190500"/>
          </a:xfrm>
        </p:grpSpPr>
        <p:sp>
          <p:nvSpPr>
            <p:cNvPr id="11" name="Oval 10">
              <a:extLst>
                <a:ext uri="{FF2B5EF4-FFF2-40B4-BE49-F238E27FC236}">
                  <a16:creationId xmlns:a16="http://schemas.microsoft.com/office/drawing/2014/main" id="{57FB13AE-1171-D430-E069-669018E89CCE}"/>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275EFB9-795A-2168-659B-8912A7F2021D}"/>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A0494E6-A64A-4207-F816-DE2F3029454D}"/>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EEFDD2D-1F25-3BB7-780F-99FB0EBDB390}"/>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03C22C0-63E2-3D99-FD27-F25B6FB6ED64}"/>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Logo">
            <a:extLst>
              <a:ext uri="{FF2B5EF4-FFF2-40B4-BE49-F238E27FC236}">
                <a16:creationId xmlns:a16="http://schemas.microsoft.com/office/drawing/2014/main" id="{B002C7C3-745B-C7B4-9A8F-0917955D2C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5" name="Slide Number Placeholder 25">
            <a:extLst>
              <a:ext uri="{FF2B5EF4-FFF2-40B4-BE49-F238E27FC236}">
                <a16:creationId xmlns:a16="http://schemas.microsoft.com/office/drawing/2014/main" id="{0BD27ED4-94F7-B50D-3A6C-BE19F2063381}"/>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7</a:t>
            </a:fld>
            <a:endParaRPr lang="en-IN" dirty="0">
              <a:solidFill>
                <a:schemeClr val="tx1"/>
              </a:solidFill>
            </a:endParaRPr>
          </a:p>
        </p:txBody>
      </p:sp>
      <p:sp>
        <p:nvSpPr>
          <p:cNvPr id="2" name="Rectangle 1">
            <a:extLst>
              <a:ext uri="{FF2B5EF4-FFF2-40B4-BE49-F238E27FC236}">
                <a16:creationId xmlns:a16="http://schemas.microsoft.com/office/drawing/2014/main" id="{F131BF8D-4766-764E-F768-0BF70FECADA9}"/>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C16D89-EB95-BFD3-1365-44CA57D53979}"/>
              </a:ext>
            </a:extLst>
          </p:cNvPr>
          <p:cNvSpPr txBox="1"/>
          <p:nvPr/>
        </p:nvSpPr>
        <p:spPr>
          <a:xfrm>
            <a:off x="4783014" y="6006517"/>
            <a:ext cx="2968283" cy="369332"/>
          </a:xfrm>
          <a:prstGeom prst="rect">
            <a:avLst/>
          </a:prstGeom>
          <a:noFill/>
        </p:spPr>
        <p:txBody>
          <a:bodyPr wrap="square" rtlCol="0">
            <a:spAutoFit/>
          </a:bodyPr>
          <a:lstStyle/>
          <a:p>
            <a:r>
              <a:rPr lang="en-IN" dirty="0"/>
              <a:t>Fig 1. System Architecture</a:t>
            </a:r>
          </a:p>
        </p:txBody>
      </p:sp>
      <p:pic>
        <p:nvPicPr>
          <p:cNvPr id="19" name="Picture 18" descr="Untitled Diagram.drawio.png"/>
          <p:cNvPicPr>
            <a:picLocks noChangeAspect="1"/>
          </p:cNvPicPr>
          <p:nvPr/>
        </p:nvPicPr>
        <p:blipFill>
          <a:blip r:embed="rId4"/>
          <a:stretch>
            <a:fillRect/>
          </a:stretch>
        </p:blipFill>
        <p:spPr>
          <a:xfrm>
            <a:off x="0" y="1406769"/>
            <a:ext cx="12192000" cy="4023359"/>
          </a:xfrm>
          <a:prstGeom prst="rect">
            <a:avLst/>
          </a:prstGeom>
        </p:spPr>
      </p:pic>
    </p:spTree>
    <p:extLst>
      <p:ext uri="{BB962C8B-B14F-4D97-AF65-F5344CB8AC3E}">
        <p14:creationId xmlns:p14="http://schemas.microsoft.com/office/powerpoint/2010/main" val="2322620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FC07C32-C7CB-F693-1422-E2B4FA0D99BF}"/>
              </a:ext>
            </a:extLst>
          </p:cNvPr>
          <p:cNvSpPr txBox="1"/>
          <p:nvPr/>
        </p:nvSpPr>
        <p:spPr>
          <a:xfrm>
            <a:off x="3337320" y="449383"/>
            <a:ext cx="6477345"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TECHNOLOGIES USED</a:t>
            </a:r>
            <a:endParaRPr lang="en-IN" sz="3600" b="1" dirty="0">
              <a:latin typeface="Times New Roman" panose="02020603050405020304" pitchFamily="18" charset="0"/>
              <a:cs typeface="Times New Roman" panose="02020603050405020304" pitchFamily="18" charset="0"/>
            </a:endParaRPr>
          </a:p>
        </p:txBody>
      </p:sp>
      <p:grpSp>
        <p:nvGrpSpPr>
          <p:cNvPr id="60" name="Group 59">
            <a:extLst>
              <a:ext uri="{FF2B5EF4-FFF2-40B4-BE49-F238E27FC236}">
                <a16:creationId xmlns:a16="http://schemas.microsoft.com/office/drawing/2014/main" id="{DBAAF519-6A4B-A608-1EF7-A52B9A358F47}"/>
              </a:ext>
            </a:extLst>
          </p:cNvPr>
          <p:cNvGrpSpPr/>
          <p:nvPr/>
        </p:nvGrpSpPr>
        <p:grpSpPr>
          <a:xfrm>
            <a:off x="336722" y="1547445"/>
            <a:ext cx="3616300" cy="3293531"/>
            <a:chOff x="1704045" y="1517430"/>
            <a:chExt cx="2133820" cy="2458830"/>
          </a:xfrm>
        </p:grpSpPr>
        <p:sp>
          <p:nvSpPr>
            <p:cNvPr id="61" name="Oval 60">
              <a:extLst>
                <a:ext uri="{FF2B5EF4-FFF2-40B4-BE49-F238E27FC236}">
                  <a16:creationId xmlns:a16="http://schemas.microsoft.com/office/drawing/2014/main" id="{BA3CB527-325D-2C7D-D9BE-7B5C6C4EE509}"/>
                </a:ext>
              </a:extLst>
            </p:cNvPr>
            <p:cNvSpPr/>
            <p:nvPr/>
          </p:nvSpPr>
          <p:spPr>
            <a:xfrm>
              <a:off x="1704045" y="1517430"/>
              <a:ext cx="2133820" cy="245883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1FD6CE82-D50C-5889-ECC9-062063E7B57E}"/>
                </a:ext>
              </a:extLst>
            </p:cNvPr>
            <p:cNvSpPr txBox="1"/>
            <p:nvPr/>
          </p:nvSpPr>
          <p:spPr>
            <a:xfrm>
              <a:off x="1840471" y="1793145"/>
              <a:ext cx="1943398" cy="791196"/>
            </a:xfrm>
            <a:prstGeom prst="rect">
              <a:avLst/>
            </a:prstGeom>
            <a:noFill/>
          </p:spPr>
          <p:txBody>
            <a:bodyPr wrap="square" rtlCol="0">
              <a:spAutoFit/>
            </a:bodyPr>
            <a:lstStyle/>
            <a:p>
              <a:pPr algn="ctr"/>
              <a:endParaRPr lang="en-US" sz="5400" b="1" dirty="0">
                <a:solidFill>
                  <a:srgbClr val="E6E7E9"/>
                </a:solidFill>
                <a:latin typeface="Tw Cen MT" panose="020B0602020104020603" pitchFamily="34" charset="0"/>
              </a:endParaRPr>
            </a:p>
          </p:txBody>
        </p:sp>
      </p:grpSp>
      <p:grpSp>
        <p:nvGrpSpPr>
          <p:cNvPr id="67" name="Group 66">
            <a:extLst>
              <a:ext uri="{FF2B5EF4-FFF2-40B4-BE49-F238E27FC236}">
                <a16:creationId xmlns:a16="http://schemas.microsoft.com/office/drawing/2014/main" id="{F617D56F-C061-B5B5-30CC-6E3324301DBF}"/>
              </a:ext>
            </a:extLst>
          </p:cNvPr>
          <p:cNvGrpSpPr/>
          <p:nvPr/>
        </p:nvGrpSpPr>
        <p:grpSpPr>
          <a:xfrm>
            <a:off x="5694874" y="4154886"/>
            <a:ext cx="2631236" cy="790887"/>
            <a:chOff x="1561123" y="1730758"/>
            <a:chExt cx="2257111" cy="790887"/>
          </a:xfrm>
        </p:grpSpPr>
        <p:sp>
          <p:nvSpPr>
            <p:cNvPr id="68" name="TextBox 67">
              <a:extLst>
                <a:ext uri="{FF2B5EF4-FFF2-40B4-BE49-F238E27FC236}">
                  <a16:creationId xmlns:a16="http://schemas.microsoft.com/office/drawing/2014/main" id="{27E7AFDE-2416-B4FF-1A8B-36158C3993A1}"/>
                </a:ext>
              </a:extLst>
            </p:cNvPr>
            <p:cNvSpPr txBox="1"/>
            <p:nvPr/>
          </p:nvSpPr>
          <p:spPr>
            <a:xfrm>
              <a:off x="1610946" y="2152313"/>
              <a:ext cx="2100255" cy="369332"/>
            </a:xfrm>
            <a:prstGeom prst="rect">
              <a:avLst/>
            </a:prstGeom>
            <a:noFill/>
          </p:spPr>
          <p:txBody>
            <a:bodyPr wrap="square" rtlCol="0">
              <a:spAutoFit/>
            </a:bodyPr>
            <a:lstStyle/>
            <a:p>
              <a:pPr algn="ctr"/>
              <a:endParaRPr lang="en-US" b="1" dirty="0">
                <a:solidFill>
                  <a:schemeClr val="bg1"/>
                </a:solidFill>
                <a:latin typeface="Tw Cen MT" panose="020B0602020104020603" pitchFamily="34" charset="0"/>
              </a:endParaRPr>
            </a:p>
          </p:txBody>
        </p:sp>
        <p:sp>
          <p:nvSpPr>
            <p:cNvPr id="69" name="TextBox 68">
              <a:extLst>
                <a:ext uri="{FF2B5EF4-FFF2-40B4-BE49-F238E27FC236}">
                  <a16:creationId xmlns:a16="http://schemas.microsoft.com/office/drawing/2014/main" id="{D3F4759B-767A-37A9-1FC5-D0E041CD0AA2}"/>
                </a:ext>
              </a:extLst>
            </p:cNvPr>
            <p:cNvSpPr txBox="1"/>
            <p:nvPr/>
          </p:nvSpPr>
          <p:spPr>
            <a:xfrm>
              <a:off x="1561123" y="1730758"/>
              <a:ext cx="2257111" cy="400110"/>
            </a:xfrm>
            <a:prstGeom prst="rect">
              <a:avLst/>
            </a:prstGeom>
            <a:noFill/>
          </p:spPr>
          <p:txBody>
            <a:bodyPr wrap="square" rtlCol="0">
              <a:spAutoFit/>
            </a:bodyPr>
            <a:lstStyle/>
            <a:p>
              <a:pPr algn="ctr"/>
              <a:endParaRPr lang="en-US" sz="2000" b="1" dirty="0">
                <a:solidFill>
                  <a:schemeClr val="bg1"/>
                </a:solidFill>
                <a:latin typeface="Tw Cen MT" panose="020B0602020104020603" pitchFamily="34" charset="0"/>
              </a:endParaRPr>
            </a:p>
          </p:txBody>
        </p:sp>
      </p:grpSp>
      <p:grpSp>
        <p:nvGrpSpPr>
          <p:cNvPr id="70" name="Group 69">
            <a:extLst>
              <a:ext uri="{FF2B5EF4-FFF2-40B4-BE49-F238E27FC236}">
                <a16:creationId xmlns:a16="http://schemas.microsoft.com/office/drawing/2014/main" id="{C5224443-092A-84E5-2186-9C4FA2EBE96F}"/>
              </a:ext>
            </a:extLst>
          </p:cNvPr>
          <p:cNvGrpSpPr/>
          <p:nvPr/>
        </p:nvGrpSpPr>
        <p:grpSpPr>
          <a:xfrm>
            <a:off x="733968" y="1884480"/>
            <a:ext cx="2853294" cy="2305474"/>
            <a:chOff x="-3502027" y="2099504"/>
            <a:chExt cx="3593118" cy="2305474"/>
          </a:xfrm>
        </p:grpSpPr>
        <p:sp>
          <p:nvSpPr>
            <p:cNvPr id="71" name="TextBox 70">
              <a:extLst>
                <a:ext uri="{FF2B5EF4-FFF2-40B4-BE49-F238E27FC236}">
                  <a16:creationId xmlns:a16="http://schemas.microsoft.com/office/drawing/2014/main" id="{B44EFDEB-D463-684F-AB41-E8D254B3392B}"/>
                </a:ext>
              </a:extLst>
            </p:cNvPr>
            <p:cNvSpPr txBox="1"/>
            <p:nvPr/>
          </p:nvSpPr>
          <p:spPr>
            <a:xfrm>
              <a:off x="-2901027" y="2099504"/>
              <a:ext cx="2937059" cy="523220"/>
            </a:xfrm>
            <a:prstGeom prst="rect">
              <a:avLst/>
            </a:prstGeom>
            <a:noFill/>
          </p:spPr>
          <p:txBody>
            <a:bodyPr wrap="square" rtlCol="0">
              <a:spAutoFit/>
            </a:bodyPr>
            <a:lstStyle/>
            <a:p>
              <a:r>
                <a:rPr lang="en-US" sz="2800" b="1" dirty="0" err="1">
                  <a:solidFill>
                    <a:schemeClr val="bg1"/>
                  </a:solidFill>
                  <a:latin typeface="Times New Roman" panose="02020603050405020304" pitchFamily="18" charset="0"/>
                  <a:cs typeface="Times New Roman" panose="02020603050405020304" pitchFamily="18" charset="0"/>
                </a:rPr>
                <a:t>Pyannote</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BBAB9B59-9270-4F2C-CBDF-39C0C11FAA59}"/>
                </a:ext>
              </a:extLst>
            </p:cNvPr>
            <p:cNvSpPr txBox="1"/>
            <p:nvPr/>
          </p:nvSpPr>
          <p:spPr>
            <a:xfrm>
              <a:off x="-3502027" y="2589096"/>
              <a:ext cx="3593118" cy="1815882"/>
            </a:xfrm>
            <a:prstGeom prst="rect">
              <a:avLst/>
            </a:prstGeom>
            <a:noFill/>
          </p:spPr>
          <p:txBody>
            <a:bodyPr wrap="square" rtlCol="0">
              <a:spAutoFit/>
            </a:bodyPr>
            <a:lstStyle/>
            <a:p>
              <a:pPr algn="ctr"/>
              <a:r>
                <a:rPr lang="en-US" sz="1600" dirty="0" err="1">
                  <a:solidFill>
                    <a:schemeClr val="bg1"/>
                  </a:solidFill>
                  <a:latin typeface="Times New Roman" panose="02020603050405020304" pitchFamily="18" charset="0"/>
                  <a:cs typeface="Times New Roman" panose="02020603050405020304" pitchFamily="18" charset="0"/>
                </a:rPr>
                <a:t>PyAnnote</a:t>
              </a:r>
              <a:r>
                <a:rPr lang="en-US" sz="1600" dirty="0">
                  <a:solidFill>
                    <a:schemeClr val="bg1"/>
                  </a:solidFill>
                  <a:latin typeface="Times New Roman" panose="02020603050405020304" pitchFamily="18" charset="0"/>
                  <a:cs typeface="Times New Roman" panose="02020603050405020304" pitchFamily="18" charset="0"/>
                </a:rPr>
                <a:t> is used in our system for speaker </a:t>
              </a:r>
              <a:r>
                <a:rPr lang="en-US" sz="1600" dirty="0" err="1">
                  <a:solidFill>
                    <a:schemeClr val="bg1"/>
                  </a:solidFill>
                  <a:latin typeface="Times New Roman" panose="02020603050405020304" pitchFamily="18" charset="0"/>
                  <a:cs typeface="Times New Roman" panose="02020603050405020304" pitchFamily="18" charset="0"/>
                </a:rPr>
                <a:t>diarization</a:t>
              </a:r>
              <a:r>
                <a:rPr lang="en-US" sz="1600" dirty="0">
                  <a:solidFill>
                    <a:schemeClr val="bg1"/>
                  </a:solidFill>
                  <a:latin typeface="Times New Roman" panose="02020603050405020304" pitchFamily="18" charset="0"/>
                  <a:cs typeface="Times New Roman" panose="02020603050405020304" pitchFamily="18" charset="0"/>
                </a:rPr>
                <a:t>, which means detecting “who spoke when” in an audio </a:t>
              </a:r>
              <a:r>
                <a:rPr lang="en-US" sz="1600" dirty="0" err="1">
                  <a:solidFill>
                    <a:schemeClr val="bg1"/>
                  </a:solidFill>
                  <a:latin typeface="Times New Roman" panose="02020603050405020304" pitchFamily="18" charset="0"/>
                  <a:cs typeface="Times New Roman" panose="02020603050405020304" pitchFamily="18" charset="0"/>
                </a:rPr>
                <a:t>recording.It</a:t>
              </a:r>
              <a:r>
                <a:rPr lang="en-US" sz="1600" dirty="0">
                  <a:solidFill>
                    <a:schemeClr val="bg1"/>
                  </a:solidFill>
                  <a:latin typeface="Times New Roman" panose="02020603050405020304" pitchFamily="18" charset="0"/>
                  <a:cs typeface="Times New Roman" panose="02020603050405020304" pitchFamily="18" charset="0"/>
                </a:rPr>
                <a:t> segments the conversation into time-stamped parts and assigns temporary speaker IDs</a:t>
              </a:r>
            </a:p>
          </p:txBody>
        </p:sp>
      </p:grpSp>
      <p:grpSp>
        <p:nvGrpSpPr>
          <p:cNvPr id="76" name="Group 75">
            <a:extLst>
              <a:ext uri="{FF2B5EF4-FFF2-40B4-BE49-F238E27FC236}">
                <a16:creationId xmlns:a16="http://schemas.microsoft.com/office/drawing/2014/main" id="{7DD5AE61-7109-4EA0-134D-11330D608F90}"/>
              </a:ext>
            </a:extLst>
          </p:cNvPr>
          <p:cNvGrpSpPr/>
          <p:nvPr/>
        </p:nvGrpSpPr>
        <p:grpSpPr>
          <a:xfrm>
            <a:off x="133752" y="5006047"/>
            <a:ext cx="4343823" cy="685531"/>
            <a:chOff x="9085651" y="4769986"/>
            <a:chExt cx="4343823" cy="685531"/>
          </a:xfrm>
        </p:grpSpPr>
        <p:sp>
          <p:nvSpPr>
            <p:cNvPr id="77" name="TextBox 76">
              <a:extLst>
                <a:ext uri="{FF2B5EF4-FFF2-40B4-BE49-F238E27FC236}">
                  <a16:creationId xmlns:a16="http://schemas.microsoft.com/office/drawing/2014/main" id="{66CBA3C9-9812-E17B-C897-8C5D046CDEF3}"/>
                </a:ext>
              </a:extLst>
            </p:cNvPr>
            <p:cNvSpPr txBox="1"/>
            <p:nvPr/>
          </p:nvSpPr>
          <p:spPr>
            <a:xfrm>
              <a:off x="9120079" y="4769986"/>
              <a:ext cx="4309395" cy="400110"/>
            </a:xfrm>
            <a:prstGeom prst="rect">
              <a:avLst/>
            </a:prstGeom>
            <a:noFill/>
          </p:spPr>
          <p:txBody>
            <a:bodyPr wrap="square" rtlCol="0">
              <a:spAutoFit/>
            </a:bodyPr>
            <a:lstStyle/>
            <a:p>
              <a:r>
                <a:rPr lang="en-US" sz="2000" b="1" dirty="0">
                  <a:solidFill>
                    <a:srgbClr val="EF3078"/>
                  </a:solidFill>
                  <a:latin typeface="Tw Cen MT" panose="020B0602020104020603" pitchFamily="34" charset="0"/>
                </a:rPr>
                <a:t>Gemini API, </a:t>
              </a:r>
              <a:r>
                <a:rPr lang="en-US" sz="2000" b="1" dirty="0" err="1">
                  <a:solidFill>
                    <a:srgbClr val="EF3078"/>
                  </a:solidFill>
                  <a:latin typeface="Tw Cen MT" panose="020B0602020104020603" pitchFamily="34" charset="0"/>
                </a:rPr>
                <a:t>Ffmpeg</a:t>
              </a:r>
              <a:r>
                <a:rPr lang="en-US" sz="2000" b="1" dirty="0">
                  <a:solidFill>
                    <a:srgbClr val="EF3078"/>
                  </a:solidFill>
                  <a:latin typeface="Tw Cen MT" panose="020B0602020104020603" pitchFamily="34" charset="0"/>
                </a:rPr>
                <a:t>, Torch Audio </a:t>
              </a:r>
            </a:p>
          </p:txBody>
        </p:sp>
        <p:sp>
          <p:nvSpPr>
            <p:cNvPr id="78" name="TextBox 77">
              <a:extLst>
                <a:ext uri="{FF2B5EF4-FFF2-40B4-BE49-F238E27FC236}">
                  <a16:creationId xmlns:a16="http://schemas.microsoft.com/office/drawing/2014/main" id="{1910B1F4-EB27-91B0-9C89-4547BB84754C}"/>
                </a:ext>
              </a:extLst>
            </p:cNvPr>
            <p:cNvSpPr txBox="1"/>
            <p:nvPr/>
          </p:nvSpPr>
          <p:spPr>
            <a:xfrm>
              <a:off x="9085651" y="5116963"/>
              <a:ext cx="2777751" cy="338554"/>
            </a:xfrm>
            <a:prstGeom prst="rect">
              <a:avLst/>
            </a:prstGeom>
            <a:noFill/>
          </p:spPr>
          <p:txBody>
            <a:bodyPr wrap="square" rtlCol="0">
              <a:spAutoFit/>
            </a:bodyPr>
            <a:lstStyle/>
            <a:p>
              <a:pPr algn="ctr"/>
              <a:r>
                <a:rPr lang="en-US" sz="1600" b="1" dirty="0">
                  <a:latin typeface="Tw Cen MT" panose="020B0602020104020603" pitchFamily="34" charset="0"/>
                </a:rPr>
                <a:t>Helping Technologies</a:t>
              </a:r>
            </a:p>
          </p:txBody>
        </p:sp>
      </p:grpSp>
      <p:grpSp>
        <p:nvGrpSpPr>
          <p:cNvPr id="81" name="Group 80">
            <a:extLst>
              <a:ext uri="{FF2B5EF4-FFF2-40B4-BE49-F238E27FC236}">
                <a16:creationId xmlns:a16="http://schemas.microsoft.com/office/drawing/2014/main" id="{5C78D2EB-29ED-0483-9A6C-CADB1EED4E2E}"/>
              </a:ext>
            </a:extLst>
          </p:cNvPr>
          <p:cNvGrpSpPr/>
          <p:nvPr/>
        </p:nvGrpSpPr>
        <p:grpSpPr>
          <a:xfrm>
            <a:off x="3109793" y="5364512"/>
            <a:ext cx="1146212" cy="1146212"/>
            <a:chOff x="7932233" y="4986332"/>
            <a:chExt cx="1146212" cy="1146212"/>
          </a:xfrm>
        </p:grpSpPr>
        <p:sp>
          <p:nvSpPr>
            <p:cNvPr id="82" name="Oval 81">
              <a:extLst>
                <a:ext uri="{FF2B5EF4-FFF2-40B4-BE49-F238E27FC236}">
                  <a16:creationId xmlns:a16="http://schemas.microsoft.com/office/drawing/2014/main" id="{9A820D07-6435-9241-AA12-6E8663274F48}"/>
                </a:ext>
              </a:extLst>
            </p:cNvPr>
            <p:cNvSpPr/>
            <p:nvPr/>
          </p:nvSpPr>
          <p:spPr>
            <a:xfrm>
              <a:off x="7932233" y="4986332"/>
              <a:ext cx="1146212" cy="1146212"/>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Picture 82">
              <a:extLst>
                <a:ext uri="{FF2B5EF4-FFF2-40B4-BE49-F238E27FC236}">
                  <a16:creationId xmlns:a16="http://schemas.microsoft.com/office/drawing/2014/main" id="{07F933DC-AF3A-6394-F125-CE8D697CB4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0476" y="5206278"/>
              <a:ext cx="706320" cy="706320"/>
            </a:xfrm>
            <a:prstGeom prst="rect">
              <a:avLst/>
            </a:prstGeom>
          </p:spPr>
        </p:pic>
      </p:grpSp>
      <p:pic>
        <p:nvPicPr>
          <p:cNvPr id="6" name="Picture 5" descr="Logo">
            <a:extLst>
              <a:ext uri="{FF2B5EF4-FFF2-40B4-BE49-F238E27FC236}">
                <a16:creationId xmlns:a16="http://schemas.microsoft.com/office/drawing/2014/main" id="{5EF748B4-8929-4EC2-65AA-82E044D691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9" name="Slide Number Placeholder 25">
            <a:extLst>
              <a:ext uri="{FF2B5EF4-FFF2-40B4-BE49-F238E27FC236}">
                <a16:creationId xmlns:a16="http://schemas.microsoft.com/office/drawing/2014/main" id="{46915BCF-88DE-9A39-01A4-0B56B720F3C9}"/>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8</a:t>
            </a:fld>
            <a:endParaRPr lang="en-IN" dirty="0">
              <a:solidFill>
                <a:schemeClr val="tx1"/>
              </a:solidFill>
            </a:endParaRPr>
          </a:p>
        </p:txBody>
      </p:sp>
      <p:sp>
        <p:nvSpPr>
          <p:cNvPr id="10" name="TextBox 9">
            <a:extLst>
              <a:ext uri="{FF2B5EF4-FFF2-40B4-BE49-F238E27FC236}">
                <a16:creationId xmlns:a16="http://schemas.microsoft.com/office/drawing/2014/main" id="{309A0888-8700-E530-39E6-7D9D6B8B9505}"/>
              </a:ext>
            </a:extLst>
          </p:cNvPr>
          <p:cNvSpPr txBox="1"/>
          <p:nvPr/>
        </p:nvSpPr>
        <p:spPr>
          <a:xfrm>
            <a:off x="4712677" y="2086742"/>
            <a:ext cx="2011680" cy="523221"/>
          </a:xfrm>
          <a:prstGeom prst="rect">
            <a:avLst/>
          </a:prstGeom>
          <a:noFill/>
        </p:spPr>
        <p:txBody>
          <a:bodyPr wrap="square" rtlCol="0">
            <a:spAutoFit/>
          </a:bodyPr>
          <a:lstStyle/>
          <a:p>
            <a:pPr algn="ctr"/>
            <a:r>
              <a:rPr lang="en-US" sz="2800" b="1" dirty="0">
                <a:solidFill>
                  <a:srgbClr val="00B0F0"/>
                </a:solidFill>
                <a:latin typeface="Times New Roman" panose="02020603050405020304" pitchFamily="18" charset="0"/>
                <a:cs typeface="Times New Roman" panose="02020603050405020304" pitchFamily="18" charset="0"/>
              </a:rPr>
              <a:t>Whisper</a:t>
            </a:r>
          </a:p>
        </p:txBody>
      </p:sp>
      <p:sp>
        <p:nvSpPr>
          <p:cNvPr id="11" name="Rectangle 10">
            <a:extLst>
              <a:ext uri="{FF2B5EF4-FFF2-40B4-BE49-F238E27FC236}">
                <a16:creationId xmlns:a16="http://schemas.microsoft.com/office/drawing/2014/main" id="{29BC71B5-8943-98D0-369C-8D3B477F1D1C}"/>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75B6F4EF-982C-EAA0-041E-672DD52B2FBE}"/>
              </a:ext>
            </a:extLst>
          </p:cNvPr>
          <p:cNvGrpSpPr/>
          <p:nvPr/>
        </p:nvGrpSpPr>
        <p:grpSpPr>
          <a:xfrm>
            <a:off x="8018585" y="998806"/>
            <a:ext cx="4173415" cy="4262511"/>
            <a:chOff x="1704045" y="1517430"/>
            <a:chExt cx="2133820" cy="2458830"/>
          </a:xfrm>
        </p:grpSpPr>
        <p:sp>
          <p:nvSpPr>
            <p:cNvPr id="12" name="Oval 11">
              <a:extLst>
                <a:ext uri="{FF2B5EF4-FFF2-40B4-BE49-F238E27FC236}">
                  <a16:creationId xmlns:a16="http://schemas.microsoft.com/office/drawing/2014/main" id="{2CB4E6D0-A7C7-4FDE-B366-B6DD6841970E}"/>
                </a:ext>
              </a:extLst>
            </p:cNvPr>
            <p:cNvSpPr/>
            <p:nvPr/>
          </p:nvSpPr>
          <p:spPr>
            <a:xfrm>
              <a:off x="1704045" y="1517430"/>
              <a:ext cx="2133820" cy="245883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B87A0E8-AFFC-5527-FCDA-40E6692F590E}"/>
                </a:ext>
              </a:extLst>
            </p:cNvPr>
            <p:cNvSpPr txBox="1"/>
            <p:nvPr/>
          </p:nvSpPr>
          <p:spPr>
            <a:xfrm>
              <a:off x="1840471" y="1793145"/>
              <a:ext cx="1943398" cy="791196"/>
            </a:xfrm>
            <a:prstGeom prst="rect">
              <a:avLst/>
            </a:prstGeom>
            <a:noFill/>
          </p:spPr>
          <p:txBody>
            <a:bodyPr wrap="square" rtlCol="0">
              <a:spAutoFit/>
            </a:bodyPr>
            <a:lstStyle/>
            <a:p>
              <a:pPr algn="ctr"/>
              <a:endParaRPr lang="en-US" sz="5400" b="1" dirty="0">
                <a:solidFill>
                  <a:srgbClr val="E6E7E9"/>
                </a:solidFill>
                <a:latin typeface="Tw Cen MT" panose="020B0602020104020603" pitchFamily="34" charset="0"/>
              </a:endParaRPr>
            </a:p>
          </p:txBody>
        </p:sp>
      </p:grpSp>
      <p:grpSp>
        <p:nvGrpSpPr>
          <p:cNvPr id="14" name="Group 13">
            <a:extLst>
              <a:ext uri="{FF2B5EF4-FFF2-40B4-BE49-F238E27FC236}">
                <a16:creationId xmlns:a16="http://schemas.microsoft.com/office/drawing/2014/main" id="{EA837908-C7F9-093D-D9AD-613FDDAE86F9}"/>
              </a:ext>
            </a:extLst>
          </p:cNvPr>
          <p:cNvGrpSpPr/>
          <p:nvPr/>
        </p:nvGrpSpPr>
        <p:grpSpPr>
          <a:xfrm>
            <a:off x="8454683" y="1558707"/>
            <a:ext cx="3488788" cy="2800768"/>
            <a:chOff x="-4060118" y="2099504"/>
            <a:chExt cx="4393388" cy="921221"/>
          </a:xfrm>
        </p:grpSpPr>
        <p:sp>
          <p:nvSpPr>
            <p:cNvPr id="15" name="TextBox 14">
              <a:extLst>
                <a:ext uri="{FF2B5EF4-FFF2-40B4-BE49-F238E27FC236}">
                  <a16:creationId xmlns:a16="http://schemas.microsoft.com/office/drawing/2014/main" id="{4087D8E6-111E-B14C-49AB-CFE80C7E2E7B}"/>
                </a:ext>
              </a:extLst>
            </p:cNvPr>
            <p:cNvSpPr txBox="1"/>
            <p:nvPr/>
          </p:nvSpPr>
          <p:spPr>
            <a:xfrm>
              <a:off x="-4060118" y="2099504"/>
              <a:ext cx="4393388" cy="921221"/>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Bio- Clinical BERT</a:t>
              </a:r>
            </a:p>
            <a:p>
              <a:pPr algn="ctr"/>
              <a:r>
                <a:rPr lang="en-US" sz="1600" dirty="0" err="1">
                  <a:solidFill>
                    <a:schemeClr val="bg1"/>
                  </a:solidFill>
                  <a:latin typeface="Times New Roman" panose="02020603050405020304" pitchFamily="18" charset="0"/>
                  <a:cs typeface="Times New Roman" panose="02020603050405020304" pitchFamily="18" charset="0"/>
                </a:rPr>
                <a:t>BioClinicalBERT</a:t>
              </a:r>
              <a:r>
                <a:rPr lang="en-US" sz="1600" dirty="0">
                  <a:solidFill>
                    <a:schemeClr val="bg1"/>
                  </a:solidFill>
                  <a:latin typeface="Times New Roman" panose="02020603050405020304" pitchFamily="18" charset="0"/>
                  <a:cs typeface="Times New Roman" panose="02020603050405020304" pitchFamily="18" charset="0"/>
                </a:rPr>
                <a:t> is a transformer model fine-tuned on clinical text, used here for role </a:t>
              </a:r>
              <a:r>
                <a:rPr lang="en-US" sz="1600" dirty="0" err="1">
                  <a:solidFill>
                    <a:schemeClr val="bg1"/>
                  </a:solidFill>
                  <a:latin typeface="Times New Roman" panose="02020603050405020304" pitchFamily="18" charset="0"/>
                  <a:cs typeface="Times New Roman" panose="02020603050405020304" pitchFamily="18" charset="0"/>
                </a:rPr>
                <a:t>classification.It</a:t>
              </a:r>
              <a:r>
                <a:rPr lang="en-US" sz="1600" dirty="0">
                  <a:solidFill>
                    <a:schemeClr val="bg1"/>
                  </a:solidFill>
                  <a:latin typeface="Times New Roman" panose="02020603050405020304" pitchFamily="18" charset="0"/>
                  <a:cs typeface="Times New Roman" panose="02020603050405020304" pitchFamily="18" charset="0"/>
                </a:rPr>
                <a:t> analyzes each transcribed sentence and predicts whether it was spoken by the doctor or the </a:t>
              </a:r>
              <a:r>
                <a:rPr lang="en-US" sz="1600" dirty="0" err="1">
                  <a:solidFill>
                    <a:schemeClr val="bg1"/>
                  </a:solidFill>
                  <a:latin typeface="Times New Roman" panose="02020603050405020304" pitchFamily="18" charset="0"/>
                  <a:cs typeface="Times New Roman" panose="02020603050405020304" pitchFamily="18" charset="0"/>
                </a:rPr>
                <a:t>patient.This</a:t>
              </a:r>
              <a:r>
                <a:rPr lang="en-US" sz="1600" dirty="0">
                  <a:solidFill>
                    <a:schemeClr val="bg1"/>
                  </a:solidFill>
                  <a:latin typeface="Times New Roman" panose="02020603050405020304" pitchFamily="18" charset="0"/>
                  <a:cs typeface="Times New Roman" panose="02020603050405020304" pitchFamily="18" charset="0"/>
                </a:rPr>
                <a:t> ensures the transcript is structured with accurate speaker roles for better understanding</a:t>
              </a:r>
            </a:p>
          </p:txBody>
        </p:sp>
        <p:sp>
          <p:nvSpPr>
            <p:cNvPr id="16" name="TextBox 15">
              <a:extLst>
                <a:ext uri="{FF2B5EF4-FFF2-40B4-BE49-F238E27FC236}">
                  <a16:creationId xmlns:a16="http://schemas.microsoft.com/office/drawing/2014/main" id="{5752B7FD-044B-7C20-6D11-C1617C92E970}"/>
                </a:ext>
              </a:extLst>
            </p:cNvPr>
            <p:cNvSpPr txBox="1"/>
            <p:nvPr/>
          </p:nvSpPr>
          <p:spPr>
            <a:xfrm>
              <a:off x="-3502028" y="2589096"/>
              <a:ext cx="3437150" cy="338554"/>
            </a:xfrm>
            <a:prstGeom prst="rect">
              <a:avLst/>
            </a:prstGeom>
            <a:noFill/>
          </p:spPr>
          <p:txBody>
            <a:bodyPr wrap="square" rtlCol="0">
              <a:spAutoFit/>
            </a:bodyPr>
            <a:lstStyle/>
            <a:p>
              <a:pPr algn="ctr"/>
              <a:endParaRPr lang="en-US" sz="1600" dirty="0">
                <a:solidFill>
                  <a:schemeClr val="bg1"/>
                </a:solidFill>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75B6F4EF-982C-EAA0-041E-672DD52B2FBE}"/>
              </a:ext>
            </a:extLst>
          </p:cNvPr>
          <p:cNvGrpSpPr/>
          <p:nvPr/>
        </p:nvGrpSpPr>
        <p:grpSpPr>
          <a:xfrm>
            <a:off x="4079631" y="1125415"/>
            <a:ext cx="3685736" cy="3981158"/>
            <a:chOff x="1704045" y="1517430"/>
            <a:chExt cx="2133820" cy="2458830"/>
          </a:xfrm>
        </p:grpSpPr>
        <p:sp>
          <p:nvSpPr>
            <p:cNvPr id="38" name="Oval 37">
              <a:extLst>
                <a:ext uri="{FF2B5EF4-FFF2-40B4-BE49-F238E27FC236}">
                  <a16:creationId xmlns:a16="http://schemas.microsoft.com/office/drawing/2014/main" id="{2CB4E6D0-A7C7-4FDE-B366-B6DD6841970E}"/>
                </a:ext>
              </a:extLst>
            </p:cNvPr>
            <p:cNvSpPr/>
            <p:nvPr/>
          </p:nvSpPr>
          <p:spPr>
            <a:xfrm>
              <a:off x="1704045" y="1517430"/>
              <a:ext cx="2133820" cy="245883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B87A0E8-AFFC-5527-FCDA-40E6692F590E}"/>
                </a:ext>
              </a:extLst>
            </p:cNvPr>
            <p:cNvSpPr txBox="1"/>
            <p:nvPr/>
          </p:nvSpPr>
          <p:spPr>
            <a:xfrm>
              <a:off x="1840471" y="1793145"/>
              <a:ext cx="1943398" cy="791196"/>
            </a:xfrm>
            <a:prstGeom prst="rect">
              <a:avLst/>
            </a:prstGeom>
            <a:noFill/>
          </p:spPr>
          <p:txBody>
            <a:bodyPr wrap="square" rtlCol="0">
              <a:spAutoFit/>
            </a:bodyPr>
            <a:lstStyle/>
            <a:p>
              <a:pPr algn="ctr"/>
              <a:endParaRPr lang="en-US" sz="5400" b="1" dirty="0">
                <a:solidFill>
                  <a:srgbClr val="E6E7E9"/>
                </a:solidFill>
                <a:latin typeface="Tw Cen MT" panose="020B0602020104020603" pitchFamily="34" charset="0"/>
              </a:endParaRPr>
            </a:p>
          </p:txBody>
        </p:sp>
      </p:grpSp>
      <p:sp>
        <p:nvSpPr>
          <p:cNvPr id="41" name="Rectangle 40"/>
          <p:cNvSpPr/>
          <p:nvPr/>
        </p:nvSpPr>
        <p:spPr>
          <a:xfrm>
            <a:off x="4206241" y="2588455"/>
            <a:ext cx="3291840" cy="1569660"/>
          </a:xfrm>
          <a:prstGeom prst="rect">
            <a:avLst/>
          </a:prstGeom>
        </p:spPr>
        <p:txBody>
          <a:bodyPr wrap="square">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Whisper is an advanced speech recognition model used for transcribing audio into </a:t>
            </a:r>
            <a:r>
              <a:rPr lang="en-US" sz="1600" dirty="0" err="1">
                <a:solidFill>
                  <a:schemeClr val="bg1"/>
                </a:solidFill>
                <a:latin typeface="Times New Roman" panose="02020603050405020304" pitchFamily="18" charset="0"/>
                <a:cs typeface="Times New Roman" panose="02020603050405020304" pitchFamily="18" charset="0"/>
              </a:rPr>
              <a:t>text.It</a:t>
            </a:r>
            <a:r>
              <a:rPr lang="en-US" sz="1600" dirty="0">
                <a:solidFill>
                  <a:schemeClr val="bg1"/>
                </a:solidFill>
                <a:latin typeface="Times New Roman" panose="02020603050405020304" pitchFamily="18" charset="0"/>
                <a:cs typeface="Times New Roman" panose="02020603050405020304" pitchFamily="18" charset="0"/>
              </a:rPr>
              <a:t> takes the raw audio input and generates highly accurate, time-stamped text segments.</a:t>
            </a:r>
            <a:endParaRPr lang="en-US" sz="1600" dirty="0" err="1">
              <a:solidFill>
                <a:schemeClr val="bg1"/>
              </a:solidFill>
              <a:latin typeface="Times New Roman" panose="02020603050405020304" pitchFamily="18" charset="0"/>
              <a:cs typeface="Times New Roman" panose="02020603050405020304" pitchFamily="18" charset="0"/>
            </a:endParaRPr>
          </a:p>
        </p:txBody>
      </p:sp>
      <p:sp>
        <p:nvSpPr>
          <p:cNvPr id="42" name="TextBox 41"/>
          <p:cNvSpPr txBox="1"/>
          <p:nvPr/>
        </p:nvSpPr>
        <p:spPr>
          <a:xfrm>
            <a:off x="4909625" y="1828800"/>
            <a:ext cx="1955409" cy="584775"/>
          </a:xfrm>
          <a:prstGeom prst="rect">
            <a:avLst/>
          </a:prstGeom>
          <a:noFill/>
        </p:spPr>
        <p:txBody>
          <a:bodyPr wrap="square" rtlCol="0">
            <a:spAutoFit/>
          </a:bodyPr>
          <a:lstStyle/>
          <a:p>
            <a:pPr algn="ctr"/>
            <a:r>
              <a:rPr lang="en-US" sz="3200" b="1" dirty="0">
                <a:solidFill>
                  <a:schemeClr val="bg1"/>
                </a:solidFill>
                <a:latin typeface="Times New Roman" pitchFamily="18" charset="0"/>
                <a:cs typeface="Times New Roman" pitchFamily="18" charset="0"/>
              </a:rPr>
              <a:t>Whisper</a:t>
            </a:r>
          </a:p>
        </p:txBody>
      </p:sp>
    </p:spTree>
    <p:extLst>
      <p:ext uri="{BB962C8B-B14F-4D97-AF65-F5344CB8AC3E}">
        <p14:creationId xmlns:p14="http://schemas.microsoft.com/office/powerpoint/2010/main" val="3723435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9"/>
                                          </p:stCondLst>
                                        </p:cTn>
                                        <p:tgtEl>
                                          <p:spTgt spid="7"/>
                                        </p:tgtEl>
                                        <p:attrNameLst>
                                          <p:attrName>style.visibility</p:attrName>
                                        </p:attrNameLst>
                                      </p:cBhvr>
                                      <p:to>
                                        <p:strVal val="visible"/>
                                      </p:to>
                                    </p:set>
                                  </p:childTnLst>
                                </p:cTn>
                              </p:par>
                            </p:childTnLst>
                          </p:cTn>
                        </p:par>
                        <p:par>
                          <p:cTn id="7" fill="hold">
                            <p:stCondLst>
                              <p:cond delay="10"/>
                            </p:stCondLst>
                            <p:childTnLst>
                              <p:par>
                                <p:cTn id="8" presetID="53" presetClass="entr" presetSubtype="16" fill="hold" nodeType="afterEffect">
                                  <p:stCondLst>
                                    <p:cond delay="0"/>
                                  </p:stCondLst>
                                  <p:childTnLst>
                                    <p:set>
                                      <p:cBhvr>
                                        <p:cTn id="9" dur="1" fill="hold">
                                          <p:stCondLst>
                                            <p:cond delay="0"/>
                                          </p:stCondLst>
                                        </p:cTn>
                                        <p:tgtEl>
                                          <p:spTgt spid="60"/>
                                        </p:tgtEl>
                                        <p:attrNameLst>
                                          <p:attrName>style.visibility</p:attrName>
                                        </p:attrNameLst>
                                      </p:cBhvr>
                                      <p:to>
                                        <p:strVal val="visible"/>
                                      </p:to>
                                    </p:set>
                                    <p:anim calcmode="lin" valueType="num">
                                      <p:cBhvr>
                                        <p:cTn id="10" dur="500" fill="hold"/>
                                        <p:tgtEl>
                                          <p:spTgt spid="60"/>
                                        </p:tgtEl>
                                        <p:attrNameLst>
                                          <p:attrName>ppt_w</p:attrName>
                                        </p:attrNameLst>
                                      </p:cBhvr>
                                      <p:tavLst>
                                        <p:tav tm="0">
                                          <p:val>
                                            <p:fltVal val="0"/>
                                          </p:val>
                                        </p:tav>
                                        <p:tav tm="100000">
                                          <p:val>
                                            <p:strVal val="#ppt_w"/>
                                          </p:val>
                                        </p:tav>
                                      </p:tavLst>
                                    </p:anim>
                                    <p:anim calcmode="lin" valueType="num">
                                      <p:cBhvr>
                                        <p:cTn id="11" dur="500" fill="hold"/>
                                        <p:tgtEl>
                                          <p:spTgt spid="60"/>
                                        </p:tgtEl>
                                        <p:attrNameLst>
                                          <p:attrName>ppt_h</p:attrName>
                                        </p:attrNameLst>
                                      </p:cBhvr>
                                      <p:tavLst>
                                        <p:tav tm="0">
                                          <p:val>
                                            <p:fltVal val="0"/>
                                          </p:val>
                                        </p:tav>
                                        <p:tav tm="100000">
                                          <p:val>
                                            <p:strVal val="#ppt_h"/>
                                          </p:val>
                                        </p:tav>
                                      </p:tavLst>
                                    </p:anim>
                                    <p:animEffect transition="in" filter="fade">
                                      <p:cBhvr>
                                        <p:cTn id="12" dur="500"/>
                                        <p:tgtEl>
                                          <p:spTgt spid="60"/>
                                        </p:tgtEl>
                                      </p:cBhvr>
                                    </p:animEffect>
                                  </p:childTnLst>
                                </p:cTn>
                              </p:par>
                              <p:par>
                                <p:cTn id="13" presetID="53" presetClass="entr" presetSubtype="16"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anim calcmode="lin" valueType="num">
                                      <p:cBhvr>
                                        <p:cTn id="15" dur="500" fill="hold"/>
                                        <p:tgtEl>
                                          <p:spTgt spid="70"/>
                                        </p:tgtEl>
                                        <p:attrNameLst>
                                          <p:attrName>ppt_w</p:attrName>
                                        </p:attrNameLst>
                                      </p:cBhvr>
                                      <p:tavLst>
                                        <p:tav tm="0">
                                          <p:val>
                                            <p:fltVal val="0"/>
                                          </p:val>
                                        </p:tav>
                                        <p:tav tm="100000">
                                          <p:val>
                                            <p:strVal val="#ppt_w"/>
                                          </p:val>
                                        </p:tav>
                                      </p:tavLst>
                                    </p:anim>
                                    <p:anim calcmode="lin" valueType="num">
                                      <p:cBhvr>
                                        <p:cTn id="16" dur="500" fill="hold"/>
                                        <p:tgtEl>
                                          <p:spTgt spid="70"/>
                                        </p:tgtEl>
                                        <p:attrNameLst>
                                          <p:attrName>ppt_h</p:attrName>
                                        </p:attrNameLst>
                                      </p:cBhvr>
                                      <p:tavLst>
                                        <p:tav tm="0">
                                          <p:val>
                                            <p:fltVal val="0"/>
                                          </p:val>
                                        </p:tav>
                                        <p:tav tm="100000">
                                          <p:val>
                                            <p:strVal val="#ppt_h"/>
                                          </p:val>
                                        </p:tav>
                                      </p:tavLst>
                                    </p:anim>
                                    <p:animEffect transition="in" filter="fade">
                                      <p:cBhvr>
                                        <p:cTn id="17" dur="500"/>
                                        <p:tgtEl>
                                          <p:spTgt spid="70"/>
                                        </p:tgtEl>
                                      </p:cBhvr>
                                    </p:animEffect>
                                  </p:childTnLst>
                                </p:cTn>
                              </p:par>
                            </p:childTnLst>
                          </p:cTn>
                        </p:par>
                        <p:par>
                          <p:cTn id="18" fill="hold">
                            <p:stCondLst>
                              <p:cond delay="510"/>
                            </p:stCondLst>
                            <p:childTnLst>
                              <p:par>
                                <p:cTn id="19" presetID="53" presetClass="entr" presetSubtype="16" fill="hold" nodeType="afterEffect">
                                  <p:stCondLst>
                                    <p:cond delay="0"/>
                                  </p:stCondLst>
                                  <p:childTnLst>
                                    <p:set>
                                      <p:cBhvr>
                                        <p:cTn id="20" dur="1" fill="hold">
                                          <p:stCondLst>
                                            <p:cond delay="0"/>
                                          </p:stCondLst>
                                        </p:cTn>
                                        <p:tgtEl>
                                          <p:spTgt spid="81"/>
                                        </p:tgtEl>
                                        <p:attrNameLst>
                                          <p:attrName>style.visibility</p:attrName>
                                        </p:attrNameLst>
                                      </p:cBhvr>
                                      <p:to>
                                        <p:strVal val="visible"/>
                                      </p:to>
                                    </p:set>
                                    <p:anim calcmode="lin" valueType="num">
                                      <p:cBhvr>
                                        <p:cTn id="21" dur="500" fill="hold"/>
                                        <p:tgtEl>
                                          <p:spTgt spid="81"/>
                                        </p:tgtEl>
                                        <p:attrNameLst>
                                          <p:attrName>ppt_w</p:attrName>
                                        </p:attrNameLst>
                                      </p:cBhvr>
                                      <p:tavLst>
                                        <p:tav tm="0">
                                          <p:val>
                                            <p:fltVal val="0"/>
                                          </p:val>
                                        </p:tav>
                                        <p:tav tm="100000">
                                          <p:val>
                                            <p:strVal val="#ppt_w"/>
                                          </p:val>
                                        </p:tav>
                                      </p:tavLst>
                                    </p:anim>
                                    <p:anim calcmode="lin" valueType="num">
                                      <p:cBhvr>
                                        <p:cTn id="22" dur="500" fill="hold"/>
                                        <p:tgtEl>
                                          <p:spTgt spid="81"/>
                                        </p:tgtEl>
                                        <p:attrNameLst>
                                          <p:attrName>ppt_h</p:attrName>
                                        </p:attrNameLst>
                                      </p:cBhvr>
                                      <p:tavLst>
                                        <p:tav tm="0">
                                          <p:val>
                                            <p:fltVal val="0"/>
                                          </p:val>
                                        </p:tav>
                                        <p:tav tm="100000">
                                          <p:val>
                                            <p:strVal val="#ppt_h"/>
                                          </p:val>
                                        </p:tav>
                                      </p:tavLst>
                                    </p:anim>
                                    <p:animEffect transition="in" filter="fade">
                                      <p:cBhvr>
                                        <p:cTn id="23" dur="500"/>
                                        <p:tgtEl>
                                          <p:spTgt spid="81"/>
                                        </p:tgtEl>
                                      </p:cBhvr>
                                    </p:animEffect>
                                  </p:childTnLst>
                                </p:cTn>
                              </p:par>
                              <p:par>
                                <p:cTn id="24" presetID="2" presetClass="entr" presetSubtype="2" fill="hold" nodeType="withEffect">
                                  <p:stCondLst>
                                    <p:cond delay="250"/>
                                  </p:stCondLst>
                                  <p:childTnLst>
                                    <p:set>
                                      <p:cBhvr>
                                        <p:cTn id="25" dur="1" fill="hold">
                                          <p:stCondLst>
                                            <p:cond delay="0"/>
                                          </p:stCondLst>
                                        </p:cTn>
                                        <p:tgtEl>
                                          <p:spTgt spid="76"/>
                                        </p:tgtEl>
                                        <p:attrNameLst>
                                          <p:attrName>style.visibility</p:attrName>
                                        </p:attrNameLst>
                                      </p:cBhvr>
                                      <p:to>
                                        <p:strVal val="visible"/>
                                      </p:to>
                                    </p:set>
                                    <p:anim calcmode="lin" valueType="num">
                                      <p:cBhvr additive="base">
                                        <p:cTn id="26" dur="250" fill="hold"/>
                                        <p:tgtEl>
                                          <p:spTgt spid="76"/>
                                        </p:tgtEl>
                                        <p:attrNameLst>
                                          <p:attrName>ppt_x</p:attrName>
                                        </p:attrNameLst>
                                      </p:cBhvr>
                                      <p:tavLst>
                                        <p:tav tm="0">
                                          <p:val>
                                            <p:strVal val="1+#ppt_w/2"/>
                                          </p:val>
                                        </p:tav>
                                        <p:tav tm="100000">
                                          <p:val>
                                            <p:strVal val="#ppt_x"/>
                                          </p:val>
                                        </p:tav>
                                      </p:tavLst>
                                    </p:anim>
                                    <p:anim calcmode="lin" valueType="num">
                                      <p:cBhvr additive="base">
                                        <p:cTn id="27" dur="250" fill="hold"/>
                                        <p:tgtEl>
                                          <p:spTgt spid="76"/>
                                        </p:tgtEl>
                                        <p:attrNameLst>
                                          <p:attrName>ppt_y</p:attrName>
                                        </p:attrNameLst>
                                      </p:cBhvr>
                                      <p:tavLst>
                                        <p:tav tm="0">
                                          <p:val>
                                            <p:strVal val="#ppt_y"/>
                                          </p:val>
                                        </p:tav>
                                        <p:tav tm="100000">
                                          <p:val>
                                            <p:strVal val="#ppt_y"/>
                                          </p:val>
                                        </p:tav>
                                      </p:tavLst>
                                    </p:anim>
                                  </p:childTnLst>
                                </p:cTn>
                              </p:par>
                              <p:par>
                                <p:cTn id="28" presetID="53" presetClass="entr" presetSubtype="16"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childTnLst>
                          </p:cTn>
                        </p:par>
                        <p:par>
                          <p:cTn id="33" fill="hold">
                            <p:stCondLst>
                              <p:cond delay="1010"/>
                            </p:stCondLst>
                            <p:childTnLst>
                              <p:par>
                                <p:cTn id="34" presetID="53" presetClass="entr" presetSubtype="16"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childTnLst>
                          </p:cTn>
                        </p:par>
                        <p:par>
                          <p:cTn id="44" fill="hold">
                            <p:stCondLst>
                              <p:cond delay="1510"/>
                            </p:stCondLst>
                            <p:childTnLst>
                              <p:par>
                                <p:cTn id="45" presetID="53" presetClass="entr" presetSubtype="16" fill="hold" nodeType="after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500" fill="hold"/>
                                        <p:tgtEl>
                                          <p:spTgt spid="37"/>
                                        </p:tgtEl>
                                        <p:attrNameLst>
                                          <p:attrName>ppt_w</p:attrName>
                                        </p:attrNameLst>
                                      </p:cBhvr>
                                      <p:tavLst>
                                        <p:tav tm="0">
                                          <p:val>
                                            <p:fltVal val="0"/>
                                          </p:val>
                                        </p:tav>
                                        <p:tav tm="100000">
                                          <p:val>
                                            <p:strVal val="#ppt_w"/>
                                          </p:val>
                                        </p:tav>
                                      </p:tavLst>
                                    </p:anim>
                                    <p:anim calcmode="lin" valueType="num">
                                      <p:cBhvr>
                                        <p:cTn id="48" dur="500" fill="hold"/>
                                        <p:tgtEl>
                                          <p:spTgt spid="37"/>
                                        </p:tgtEl>
                                        <p:attrNameLst>
                                          <p:attrName>ppt_h</p:attrName>
                                        </p:attrNameLst>
                                      </p:cBhvr>
                                      <p:tavLst>
                                        <p:tav tm="0">
                                          <p:val>
                                            <p:fltVal val="0"/>
                                          </p:val>
                                        </p:tav>
                                        <p:tav tm="100000">
                                          <p:val>
                                            <p:strVal val="#ppt_h"/>
                                          </p:val>
                                        </p:tav>
                                      </p:tavLst>
                                    </p:anim>
                                    <p:animEffect transition="in" filter="fade">
                                      <p:cBhvr>
                                        <p:cTn id="4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AD60A68B-A029-4A99-9D1C-B36435144D00}"/>
              </a:ext>
            </a:extLst>
          </p:cNvPr>
          <p:cNvSpPr/>
          <p:nvPr/>
        </p:nvSpPr>
        <p:spPr>
          <a:xfrm>
            <a:off x="4262511" y="205748"/>
            <a:ext cx="3669721" cy="60474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4" name="Group 53">
            <a:extLst>
              <a:ext uri="{FF2B5EF4-FFF2-40B4-BE49-F238E27FC236}">
                <a16:creationId xmlns:a16="http://schemas.microsoft.com/office/drawing/2014/main" id="{1E6CB663-36DA-06DF-FFB4-C83D620F6F1B}"/>
              </a:ext>
            </a:extLst>
          </p:cNvPr>
          <p:cNvGrpSpPr/>
          <p:nvPr/>
        </p:nvGrpSpPr>
        <p:grpSpPr>
          <a:xfrm>
            <a:off x="5516884" y="873206"/>
            <a:ext cx="1158232" cy="145662"/>
            <a:chOff x="4679586" y="878988"/>
            <a:chExt cx="1434489" cy="190500"/>
          </a:xfrm>
        </p:grpSpPr>
        <p:sp>
          <p:nvSpPr>
            <p:cNvPr id="55" name="Oval 54">
              <a:extLst>
                <a:ext uri="{FF2B5EF4-FFF2-40B4-BE49-F238E27FC236}">
                  <a16:creationId xmlns:a16="http://schemas.microsoft.com/office/drawing/2014/main" id="{8C43A578-1820-65B2-5802-A1FB162A6920}"/>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8A9E971-8DC6-0B76-2F40-C5101EF86E57}"/>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EF46BFB-CC64-490B-ADC5-79B4B92F23AE}"/>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B4762A2-9C7C-376B-E020-263672CE61A4}"/>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3654D3A-5D62-5BA5-33E6-AD7888948696}"/>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A2DDCF28-A128-F91F-FF94-19D3D5E6C21D}"/>
              </a:ext>
            </a:extLst>
          </p:cNvPr>
          <p:cNvSpPr>
            <a:spLocks noGrp="1"/>
          </p:cNvSpPr>
          <p:nvPr>
            <p:ph type="sldNum" sz="quarter" idx="12"/>
          </p:nvPr>
        </p:nvSpPr>
        <p:spPr>
          <a:xfrm>
            <a:off x="9191404" y="6494399"/>
            <a:ext cx="2743200" cy="365125"/>
          </a:xfrm>
        </p:spPr>
        <p:txBody>
          <a:bodyPr/>
          <a:lstStyle/>
          <a:p>
            <a:fld id="{8B57A28C-9B0E-425D-8A34-5E2AAF7428D5}" type="slidenum">
              <a:rPr lang="en-IN" smtClean="0"/>
              <a:pPr/>
              <a:t>9</a:t>
            </a:fld>
            <a:endParaRPr lang="en-IN" dirty="0"/>
          </a:p>
        </p:txBody>
      </p:sp>
      <p:sp>
        <p:nvSpPr>
          <p:cNvPr id="97" name="Text Box 16">
            <a:extLst>
              <a:ext uri="{FF2B5EF4-FFF2-40B4-BE49-F238E27FC236}">
                <a16:creationId xmlns:a16="http://schemas.microsoft.com/office/drawing/2014/main" id="{F6D209BE-24A0-E232-7344-CF2604AAC351}"/>
              </a:ext>
            </a:extLst>
          </p:cNvPr>
          <p:cNvSpPr txBox="1"/>
          <p:nvPr/>
        </p:nvSpPr>
        <p:spPr>
          <a:xfrm>
            <a:off x="-21136184" y="7571630"/>
            <a:ext cx="3515743" cy="40027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98" name="Date Placeholder 1">
            <a:extLst>
              <a:ext uri="{FF2B5EF4-FFF2-40B4-BE49-F238E27FC236}">
                <a16:creationId xmlns:a16="http://schemas.microsoft.com/office/drawing/2014/main" id="{47A3810B-E477-595A-0BAA-EA0167E52849}"/>
              </a:ext>
            </a:extLst>
          </p:cNvPr>
          <p:cNvSpPr txBox="1">
            <a:spLocks/>
          </p:cNvSpPr>
          <p:nvPr/>
        </p:nvSpPr>
        <p:spPr>
          <a:xfrm>
            <a:off x="-33597349" y="12727277"/>
            <a:ext cx="2743200" cy="536097"/>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098AF34-46EF-49BA-9FE7-6780C4538CF3}" type="datetime1">
              <a:rPr lang="en-IN" smtClean="0"/>
              <a:pPr/>
              <a:t>15-09-2025</a:t>
            </a:fld>
            <a:endParaRPr lang="en-IN"/>
          </a:p>
        </p:txBody>
      </p:sp>
      <p:sp>
        <p:nvSpPr>
          <p:cNvPr id="99" name="Slide Number Placeholder 3">
            <a:extLst>
              <a:ext uri="{FF2B5EF4-FFF2-40B4-BE49-F238E27FC236}">
                <a16:creationId xmlns:a16="http://schemas.microsoft.com/office/drawing/2014/main" id="{E8270F16-B74D-3BCE-082C-8F9026CEC075}"/>
              </a:ext>
            </a:extLst>
          </p:cNvPr>
          <p:cNvSpPr txBox="1">
            <a:spLocks/>
          </p:cNvSpPr>
          <p:nvPr/>
        </p:nvSpPr>
        <p:spPr>
          <a:xfrm>
            <a:off x="-25146961" y="12764318"/>
            <a:ext cx="2743200" cy="536097"/>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57A28C-9B0E-425D-8A34-5E2AAF7428D5}" type="slidenum">
              <a:rPr lang="en-IN" smtClean="0"/>
              <a:pPr/>
              <a:t>9</a:t>
            </a:fld>
            <a:endParaRPr lang="en-IN" dirty="0"/>
          </a:p>
        </p:txBody>
      </p:sp>
      <p:sp>
        <p:nvSpPr>
          <p:cNvPr id="4" name="Google Shape;227;p3">
            <a:extLst>
              <a:ext uri="{FF2B5EF4-FFF2-40B4-BE49-F238E27FC236}">
                <a16:creationId xmlns:a16="http://schemas.microsoft.com/office/drawing/2014/main" id="{FB049135-E2A0-E057-DD0B-CEDDD30AA1E1}"/>
              </a:ext>
            </a:extLst>
          </p:cNvPr>
          <p:cNvSpPr txBox="1">
            <a:spLocks/>
          </p:cNvSpPr>
          <p:nvPr/>
        </p:nvSpPr>
        <p:spPr>
          <a:xfrm>
            <a:off x="4435119" y="15248"/>
            <a:ext cx="3669721" cy="1055737"/>
          </a:xfrm>
          <a:prstGeom prst="rect">
            <a:avLst/>
          </a:prstGeom>
        </p:spPr>
        <p:txBody>
          <a:bodyPr spcFirstLastPara="1" vert="horz" lIns="91440" tIns="45720" rIns="91440" bIns="45720" rtlCol="0"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
                <a:schemeClr val="dk1"/>
              </a:buClr>
              <a:buSzPct val="100000"/>
            </a:pPr>
            <a:r>
              <a:rPr lang="en-US" sz="3200" b="1" dirty="0">
                <a:solidFill>
                  <a:schemeClr val="bg1"/>
                </a:solidFill>
                <a:latin typeface="Times New Roman" panose="02020603050405020304" pitchFamily="18" charset="0"/>
                <a:cs typeface="Times New Roman" panose="02020603050405020304" pitchFamily="18" charset="0"/>
              </a:rPr>
              <a:t>METHODOLOGY</a:t>
            </a:r>
          </a:p>
        </p:txBody>
      </p:sp>
      <p:sp>
        <p:nvSpPr>
          <p:cNvPr id="5" name="TextBox 4">
            <a:extLst>
              <a:ext uri="{FF2B5EF4-FFF2-40B4-BE49-F238E27FC236}">
                <a16:creationId xmlns:a16="http://schemas.microsoft.com/office/drawing/2014/main" id="{B50AFE95-4476-AE02-72E3-2CEB7B0630DD}"/>
              </a:ext>
            </a:extLst>
          </p:cNvPr>
          <p:cNvSpPr txBox="1"/>
          <p:nvPr/>
        </p:nvSpPr>
        <p:spPr>
          <a:xfrm>
            <a:off x="3483561" y="1318213"/>
            <a:ext cx="8327326" cy="5103759"/>
          </a:xfrm>
          <a:prstGeom prst="rect">
            <a:avLst/>
          </a:prstGeom>
        </p:spPr>
        <p:txBody>
          <a:bodyPr vert="horz" lIns="91440" tIns="45720" rIns="91440" bIns="45720" rtlCol="0">
            <a:normAutofit/>
          </a:bodyPr>
          <a:lstStyle/>
          <a:p>
            <a:pPr algn="just">
              <a:lnSpc>
                <a:spcPct val="90000"/>
              </a:lnSpc>
              <a:spcBef>
                <a:spcPts val="600"/>
              </a:spcBef>
              <a:buClr>
                <a:schemeClr val="accent1"/>
              </a:buClr>
              <a:buSzPct val="80000"/>
            </a:pPr>
            <a:endParaRPr lang="en-US" sz="2000" b="1" dirty="0">
              <a:latin typeface="Times New Roman" panose="02020603050405020304" pitchFamily="18" charset="0"/>
              <a:cs typeface="Times New Roman" panose="02020603050405020304" pitchFamily="18" charset="0"/>
            </a:endParaRPr>
          </a:p>
        </p:txBody>
      </p:sp>
      <p:pic>
        <p:nvPicPr>
          <p:cNvPr id="2" name="Picture 1" descr="Logo">
            <a:extLst>
              <a:ext uri="{FF2B5EF4-FFF2-40B4-BE49-F238E27FC236}">
                <a16:creationId xmlns:a16="http://schemas.microsoft.com/office/drawing/2014/main" id="{0A0F4E58-F9FB-7A31-465D-6A88D7C09E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9" name="Slide Number Placeholder 25">
            <a:extLst>
              <a:ext uri="{FF2B5EF4-FFF2-40B4-BE49-F238E27FC236}">
                <a16:creationId xmlns:a16="http://schemas.microsoft.com/office/drawing/2014/main" id="{A8EDB2E3-3C16-0806-72A1-A8F6E48A95E5}"/>
              </a:ext>
            </a:extLst>
          </p:cNvPr>
          <p:cNvSpPr txBox="1">
            <a:spLocks/>
          </p:cNvSpPr>
          <p:nvPr/>
        </p:nvSpPr>
        <p:spPr>
          <a:xfrm>
            <a:off x="9439346" y="622608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57A28C-9B0E-425D-8A34-5E2AAF7428D5}" type="slidenum">
              <a:rPr lang="en-IN" smtClean="0">
                <a:solidFill>
                  <a:schemeClr val="tx1"/>
                </a:solidFill>
              </a:rPr>
              <a:pPr/>
              <a:t>9</a:t>
            </a:fld>
            <a:endParaRPr lang="en-IN" dirty="0">
              <a:solidFill>
                <a:schemeClr val="tx1"/>
              </a:solidFill>
            </a:endParaRPr>
          </a:p>
        </p:txBody>
      </p:sp>
      <p:sp>
        <p:nvSpPr>
          <p:cNvPr id="6" name="Rectangle 5">
            <a:extLst>
              <a:ext uri="{FF2B5EF4-FFF2-40B4-BE49-F238E27FC236}">
                <a16:creationId xmlns:a16="http://schemas.microsoft.com/office/drawing/2014/main" id="{E8D23135-3530-98F8-9C30-B70B8640ED1F}"/>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BA7B6C3A-D7E5-679F-8355-4FB94D79E512}"/>
              </a:ext>
            </a:extLst>
          </p:cNvPr>
          <p:cNvSpPr>
            <a:spLocks noChangeArrowheads="1"/>
          </p:cNvSpPr>
          <p:nvPr/>
        </p:nvSpPr>
        <p:spPr bwMode="auto">
          <a:xfrm>
            <a:off x="972457" y="1378856"/>
            <a:ext cx="1045028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Audio Acquisition-</a:t>
            </a:r>
            <a:r>
              <a:rPr lang="en-US" altLang="en-US" dirty="0">
                <a:latin typeface="Times New Roman" panose="02020603050405020304" pitchFamily="18" charset="0"/>
                <a:cs typeface="Times New Roman" panose="02020603050405020304" pitchFamily="18" charset="0"/>
              </a:rPr>
              <a:t> Users can either upload audio files or record live</a:t>
            </a: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conversations within the application.</a:t>
            </a: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Ffmpeg</a:t>
            </a:r>
            <a:r>
              <a:rPr lang="en-US" altLang="en-US" dirty="0">
                <a:latin typeface="Times New Roman" panose="02020603050405020304" pitchFamily="18" charset="0"/>
                <a:cs typeface="Times New Roman" panose="02020603050405020304" pitchFamily="18" charset="0"/>
              </a:rPr>
              <a:t> ensures all audio is standardized into WAV format.</a:t>
            </a:r>
          </a:p>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Speaker </a:t>
            </a:r>
            <a:r>
              <a:rPr lang="en-US" altLang="en-US" b="1" dirty="0" err="1">
                <a:latin typeface="Times New Roman" panose="02020603050405020304" pitchFamily="18" charset="0"/>
                <a:cs typeface="Times New Roman" panose="02020603050405020304" pitchFamily="18" charset="0"/>
              </a:rPr>
              <a:t>Diarization</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Pyannote</a:t>
            </a:r>
            <a:r>
              <a:rPr lang="en-US" altLang="en-US" dirty="0">
                <a:latin typeface="Times New Roman" panose="02020603050405020304" pitchFamily="18" charset="0"/>
                <a:cs typeface="Times New Roman" panose="02020603050405020304" pitchFamily="18" charset="0"/>
              </a:rPr>
              <a:t> detects speaker change points and segments the audio into speaker-specific chunks.</a:t>
            </a:r>
          </a:p>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Speech Transcription- </a:t>
            </a:r>
            <a:r>
              <a:rPr lang="en-US" altLang="en-US" dirty="0">
                <a:latin typeface="Times New Roman" panose="02020603050405020304" pitchFamily="18" charset="0"/>
                <a:cs typeface="Times New Roman" panose="02020603050405020304" pitchFamily="18" charset="0"/>
              </a:rPr>
              <a:t>Whisper model converts segmented audio into text</a:t>
            </a: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transcripts with timestamps.</a:t>
            </a:r>
          </a:p>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Alignment &amp; Role Classification-</a:t>
            </a:r>
            <a:r>
              <a:rPr lang="en-US" altLang="en-US" dirty="0">
                <a:latin typeface="Times New Roman" panose="02020603050405020304" pitchFamily="18" charset="0"/>
                <a:cs typeface="Times New Roman" panose="02020603050405020304" pitchFamily="18" charset="0"/>
              </a:rPr>
              <a:t>Transcripts are aligned with </a:t>
            </a:r>
            <a:r>
              <a:rPr lang="en-US" altLang="en-US" dirty="0" err="1">
                <a:latin typeface="Times New Roman" panose="02020603050405020304" pitchFamily="18" charset="0"/>
                <a:cs typeface="Times New Roman" panose="02020603050405020304" pitchFamily="18" charset="0"/>
              </a:rPr>
              <a:t>diarization</a:t>
            </a:r>
            <a:endParaRPr lang="en-US" altLang="en-US" dirty="0">
              <a:latin typeface="Times New Roman" panose="02020603050405020304" pitchFamily="18" charset="0"/>
              <a:cs typeface="Times New Roman" panose="02020603050405020304" pitchFamily="18" charset="0"/>
            </a:endParaRP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output.</a:t>
            </a: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Fine-tuned </a:t>
            </a:r>
            <a:r>
              <a:rPr lang="en-US" altLang="en-US" dirty="0" err="1">
                <a:latin typeface="Times New Roman" panose="02020603050405020304" pitchFamily="18" charset="0"/>
                <a:cs typeface="Times New Roman" panose="02020603050405020304" pitchFamily="18" charset="0"/>
              </a:rPr>
              <a:t>BioClinicalBERT</a:t>
            </a:r>
            <a:r>
              <a:rPr lang="en-US" altLang="en-US" dirty="0">
                <a:latin typeface="Times New Roman" panose="02020603050405020304" pitchFamily="18" charset="0"/>
                <a:cs typeface="Times New Roman" panose="02020603050405020304" pitchFamily="18" charset="0"/>
              </a:rPr>
              <a:t> classifies each segment as Doctor or Patient.</a:t>
            </a:r>
          </a:p>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Summarization- </a:t>
            </a:r>
            <a:r>
              <a:rPr lang="en-US" altLang="en-US" dirty="0">
                <a:latin typeface="Times New Roman" panose="02020603050405020304" pitchFamily="18" charset="0"/>
                <a:cs typeface="Times New Roman" panose="02020603050405020304" pitchFamily="18" charset="0"/>
              </a:rPr>
              <a:t>Gemini LLM generates a concise medical summary of the</a:t>
            </a:r>
          </a:p>
          <a:p>
            <a:pPr marL="800100" lvl="1" indent="-34290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conversation.</a:t>
            </a:r>
          </a:p>
          <a:p>
            <a:pPr marL="800100" lvl="1" indent="-342900" algn="just" eaLnBrk="0" fontAlgn="base" hangingPunct="0">
              <a:spcBef>
                <a:spcPct val="0"/>
              </a:spcBef>
              <a:spcAft>
                <a:spcPct val="0"/>
              </a:spcAft>
              <a:buFont typeface="Arial" pitchFamily="34" charset="0"/>
              <a:buChar char="•"/>
            </a:pPr>
            <a:r>
              <a:rPr lang="en-US" altLang="en-US" b="1" dirty="0">
                <a:latin typeface="Times New Roman" panose="02020603050405020304" pitchFamily="18" charset="0"/>
                <a:cs typeface="Times New Roman" panose="02020603050405020304" pitchFamily="18" charset="0"/>
              </a:rPr>
              <a:t>Result Delivery- </a:t>
            </a:r>
            <a:r>
              <a:rPr lang="en-US" altLang="en-US" dirty="0">
                <a:latin typeface="Times New Roman" panose="02020603050405020304" pitchFamily="18" charset="0"/>
                <a:cs typeface="Times New Roman" panose="02020603050405020304" pitchFamily="18" charset="0"/>
              </a:rPr>
              <a:t>Users can view the role-classified transcript and summary in the </a:t>
            </a:r>
            <a:r>
              <a:rPr lang="en-US" altLang="en-US" dirty="0" err="1">
                <a:latin typeface="Times New Roman" panose="02020603050405020304" pitchFamily="18" charset="0"/>
                <a:cs typeface="Times New Roman" panose="02020603050405020304" pitchFamily="18" charset="0"/>
              </a:rPr>
              <a:t>GUI.Option</a:t>
            </a:r>
            <a:r>
              <a:rPr lang="en-US" altLang="en-US" dirty="0">
                <a:latin typeface="Times New Roman" panose="02020603050405020304" pitchFamily="18" charset="0"/>
                <a:cs typeface="Times New Roman" panose="02020603050405020304" pitchFamily="18" charset="0"/>
              </a:rPr>
              <a:t> to send summary via email to patients/doctors.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12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21C6-4EB6-6327-08E7-6CC1314D9570}"/>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C156BD73-D6EC-E016-0A27-C95F372389F8}"/>
              </a:ext>
            </a:extLst>
          </p:cNvPr>
          <p:cNvSpPr/>
          <p:nvPr/>
        </p:nvSpPr>
        <p:spPr>
          <a:xfrm>
            <a:off x="5431756" y="212185"/>
            <a:ext cx="1328392" cy="60474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4" name="Group 53">
            <a:extLst>
              <a:ext uri="{FF2B5EF4-FFF2-40B4-BE49-F238E27FC236}">
                <a16:creationId xmlns:a16="http://schemas.microsoft.com/office/drawing/2014/main" id="{A6209661-DE20-9048-03EA-97A92A1BC60B}"/>
              </a:ext>
            </a:extLst>
          </p:cNvPr>
          <p:cNvGrpSpPr/>
          <p:nvPr/>
        </p:nvGrpSpPr>
        <p:grpSpPr>
          <a:xfrm>
            <a:off x="5516884" y="873206"/>
            <a:ext cx="1158232" cy="145662"/>
            <a:chOff x="4679586" y="878988"/>
            <a:chExt cx="1434489" cy="190500"/>
          </a:xfrm>
        </p:grpSpPr>
        <p:sp>
          <p:nvSpPr>
            <p:cNvPr id="55" name="Oval 54">
              <a:extLst>
                <a:ext uri="{FF2B5EF4-FFF2-40B4-BE49-F238E27FC236}">
                  <a16:creationId xmlns:a16="http://schemas.microsoft.com/office/drawing/2014/main" id="{3E300B8A-05F7-C836-794A-D37F450ECCC5}"/>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B64E980-BFE9-B574-F3CB-931DA07D935E}"/>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A53F1CD8-8EA4-E534-DA22-87361A88ADD3}"/>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4D11603A-2686-CA06-E67D-6DFBE7174596}"/>
                </a:ext>
              </a:extLst>
            </p:cNvPr>
            <p:cNvSpPr/>
            <p:nvPr/>
          </p:nvSpPr>
          <p:spPr>
            <a:xfrm>
              <a:off x="5612308" y="878988"/>
              <a:ext cx="190500" cy="190500"/>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CA7DEF0A-7115-D26C-0538-E841E1BFC7A0}"/>
                </a:ext>
              </a:extLst>
            </p:cNvPr>
            <p:cNvSpPr/>
            <p:nvPr/>
          </p:nvSpPr>
          <p:spPr>
            <a:xfrm>
              <a:off x="5923575"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ED52A981-5861-B5E1-3162-40B7216F0BEE}"/>
              </a:ext>
            </a:extLst>
          </p:cNvPr>
          <p:cNvSpPr>
            <a:spLocks noGrp="1"/>
          </p:cNvSpPr>
          <p:nvPr>
            <p:ph type="sldNum" sz="quarter" idx="12"/>
          </p:nvPr>
        </p:nvSpPr>
        <p:spPr>
          <a:xfrm>
            <a:off x="9191404" y="6494399"/>
            <a:ext cx="2743200" cy="365125"/>
          </a:xfrm>
        </p:spPr>
        <p:txBody>
          <a:bodyPr/>
          <a:lstStyle/>
          <a:p>
            <a:fld id="{8B57A28C-9B0E-425D-8A34-5E2AAF7428D5}" type="slidenum">
              <a:rPr lang="en-IN" smtClean="0"/>
              <a:pPr/>
              <a:t>10</a:t>
            </a:fld>
            <a:endParaRPr lang="en-IN" dirty="0"/>
          </a:p>
        </p:txBody>
      </p:sp>
      <p:sp>
        <p:nvSpPr>
          <p:cNvPr id="97" name="Text Box 16">
            <a:extLst>
              <a:ext uri="{FF2B5EF4-FFF2-40B4-BE49-F238E27FC236}">
                <a16:creationId xmlns:a16="http://schemas.microsoft.com/office/drawing/2014/main" id="{D15865DB-AA34-69C6-C1FE-ED21C14C0EFC}"/>
              </a:ext>
            </a:extLst>
          </p:cNvPr>
          <p:cNvSpPr txBox="1"/>
          <p:nvPr/>
        </p:nvSpPr>
        <p:spPr>
          <a:xfrm>
            <a:off x="-21136184" y="7571630"/>
            <a:ext cx="3515743" cy="40027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98" name="Date Placeholder 1">
            <a:extLst>
              <a:ext uri="{FF2B5EF4-FFF2-40B4-BE49-F238E27FC236}">
                <a16:creationId xmlns:a16="http://schemas.microsoft.com/office/drawing/2014/main" id="{CF74C5AE-54D1-411B-CBE5-4D09A42C8CA9}"/>
              </a:ext>
            </a:extLst>
          </p:cNvPr>
          <p:cNvSpPr txBox="1">
            <a:spLocks/>
          </p:cNvSpPr>
          <p:nvPr/>
        </p:nvSpPr>
        <p:spPr>
          <a:xfrm>
            <a:off x="-33597349" y="12727277"/>
            <a:ext cx="2743200" cy="536097"/>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098AF34-46EF-49BA-9FE7-6780C4538CF3}" type="datetime1">
              <a:rPr lang="en-IN" smtClean="0"/>
              <a:pPr/>
              <a:t>15-09-2025</a:t>
            </a:fld>
            <a:endParaRPr lang="en-IN"/>
          </a:p>
        </p:txBody>
      </p:sp>
      <p:sp>
        <p:nvSpPr>
          <p:cNvPr id="99" name="Slide Number Placeholder 3">
            <a:extLst>
              <a:ext uri="{FF2B5EF4-FFF2-40B4-BE49-F238E27FC236}">
                <a16:creationId xmlns:a16="http://schemas.microsoft.com/office/drawing/2014/main" id="{87E7A5B3-6264-64C2-F5BB-A53B2C1FDF3D}"/>
              </a:ext>
            </a:extLst>
          </p:cNvPr>
          <p:cNvSpPr txBox="1">
            <a:spLocks/>
          </p:cNvSpPr>
          <p:nvPr/>
        </p:nvSpPr>
        <p:spPr>
          <a:xfrm>
            <a:off x="-25146961" y="12764318"/>
            <a:ext cx="2743200" cy="536097"/>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57A28C-9B0E-425D-8A34-5E2AAF7428D5}" type="slidenum">
              <a:rPr lang="en-IN" smtClean="0"/>
              <a:pPr/>
              <a:t>10</a:t>
            </a:fld>
            <a:endParaRPr lang="en-IN" dirty="0"/>
          </a:p>
        </p:txBody>
      </p:sp>
      <p:sp>
        <p:nvSpPr>
          <p:cNvPr id="4" name="Google Shape;227;p3">
            <a:extLst>
              <a:ext uri="{FF2B5EF4-FFF2-40B4-BE49-F238E27FC236}">
                <a16:creationId xmlns:a16="http://schemas.microsoft.com/office/drawing/2014/main" id="{CA908514-0D7A-2E0E-7A7E-BCE68E08B25A}"/>
              </a:ext>
            </a:extLst>
          </p:cNvPr>
          <p:cNvSpPr txBox="1">
            <a:spLocks/>
          </p:cNvSpPr>
          <p:nvPr/>
        </p:nvSpPr>
        <p:spPr>
          <a:xfrm>
            <a:off x="5575948" y="15248"/>
            <a:ext cx="3669721" cy="1055737"/>
          </a:xfrm>
          <a:prstGeom prst="rect">
            <a:avLst/>
          </a:prstGeom>
        </p:spPr>
        <p:txBody>
          <a:bodyPr spcFirstLastPara="1" vert="horz" lIns="91440" tIns="45720" rIns="91440" bIns="45720" rtlCol="0"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
                <a:schemeClr val="dk1"/>
              </a:buClr>
              <a:buSzPct val="100000"/>
            </a:pPr>
            <a:r>
              <a:rPr lang="en-US" sz="3200" b="1" dirty="0">
                <a:solidFill>
                  <a:schemeClr val="bg1"/>
                </a:solidFill>
                <a:latin typeface="Times New Roman" panose="02020603050405020304" pitchFamily="18" charset="0"/>
                <a:cs typeface="Times New Roman" panose="02020603050405020304" pitchFamily="18" charset="0"/>
              </a:rPr>
              <a:t>USP</a:t>
            </a:r>
          </a:p>
        </p:txBody>
      </p:sp>
      <p:sp>
        <p:nvSpPr>
          <p:cNvPr id="5" name="TextBox 4">
            <a:extLst>
              <a:ext uri="{FF2B5EF4-FFF2-40B4-BE49-F238E27FC236}">
                <a16:creationId xmlns:a16="http://schemas.microsoft.com/office/drawing/2014/main" id="{089792EF-2195-14E1-71EC-AABFB000AA8F}"/>
              </a:ext>
            </a:extLst>
          </p:cNvPr>
          <p:cNvSpPr txBox="1"/>
          <p:nvPr/>
        </p:nvSpPr>
        <p:spPr>
          <a:xfrm>
            <a:off x="3562047" y="1461055"/>
            <a:ext cx="8447080" cy="5078034"/>
          </a:xfrm>
          <a:prstGeom prst="rect">
            <a:avLst/>
          </a:prstGeom>
        </p:spPr>
        <p:txBody>
          <a:bodyPr vert="horz" lIns="91440" tIns="45720" rIns="91440" bIns="45720" rtlCol="0">
            <a:normAutofit/>
          </a:bodyPr>
          <a:lstStyle/>
          <a:p>
            <a:pPr algn="just">
              <a:lnSpc>
                <a:spcPct val="90000"/>
              </a:lnSpc>
              <a:spcBef>
                <a:spcPts val="600"/>
              </a:spcBef>
              <a:buClr>
                <a:schemeClr val="accent1"/>
              </a:buClr>
              <a:buSzPct val="80000"/>
              <a:buFont typeface="Wingdings 3" charset="2"/>
              <a:buChar char=""/>
            </a:pPr>
            <a:endParaRPr lang="en-IN" sz="2000" dirty="0">
              <a:latin typeface="Times New Roman" panose="02020603050405020304" pitchFamily="18" charset="0"/>
              <a:cs typeface="Times New Roman" panose="02020603050405020304" pitchFamily="18" charset="0"/>
            </a:endParaRPr>
          </a:p>
        </p:txBody>
      </p:sp>
      <p:pic>
        <p:nvPicPr>
          <p:cNvPr id="2" name="Picture 1" descr="Logo">
            <a:extLst>
              <a:ext uri="{FF2B5EF4-FFF2-40B4-BE49-F238E27FC236}">
                <a16:creationId xmlns:a16="http://schemas.microsoft.com/office/drawing/2014/main" id="{398C52DB-8003-B6C9-DC52-0ADC0FEA8B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9" name="Slide Number Placeholder 25">
            <a:extLst>
              <a:ext uri="{FF2B5EF4-FFF2-40B4-BE49-F238E27FC236}">
                <a16:creationId xmlns:a16="http://schemas.microsoft.com/office/drawing/2014/main" id="{C95416B5-2D04-04D3-603A-F040E8611424}"/>
              </a:ext>
            </a:extLst>
          </p:cNvPr>
          <p:cNvSpPr txBox="1">
            <a:spLocks/>
          </p:cNvSpPr>
          <p:nvPr/>
        </p:nvSpPr>
        <p:spPr>
          <a:xfrm>
            <a:off x="9439346" y="622608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57A28C-9B0E-425D-8A34-5E2AAF7428D5}" type="slidenum">
              <a:rPr lang="en-IN" smtClean="0">
                <a:solidFill>
                  <a:schemeClr val="tx1"/>
                </a:solidFill>
              </a:rPr>
              <a:pPr/>
              <a:t>10</a:t>
            </a:fld>
            <a:endParaRPr lang="en-IN" dirty="0">
              <a:solidFill>
                <a:schemeClr val="tx1"/>
              </a:solidFill>
            </a:endParaRPr>
          </a:p>
        </p:txBody>
      </p:sp>
      <p:sp>
        <p:nvSpPr>
          <p:cNvPr id="6" name="Rectangle 5">
            <a:extLst>
              <a:ext uri="{FF2B5EF4-FFF2-40B4-BE49-F238E27FC236}">
                <a16:creationId xmlns:a16="http://schemas.microsoft.com/office/drawing/2014/main" id="{A67CA637-5C5D-2C49-9446-54C72528A028}"/>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A0D2B239-6913-C98A-177E-6F53888B6A79}"/>
              </a:ext>
            </a:extLst>
          </p:cNvPr>
          <p:cNvSpPr>
            <a:spLocks noChangeArrowheads="1"/>
          </p:cNvSpPr>
          <p:nvPr/>
        </p:nvSpPr>
        <p:spPr bwMode="auto">
          <a:xfrm>
            <a:off x="257396" y="1445087"/>
            <a:ext cx="11934604"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685800" lvl="0" indent="-514350">
              <a:lnSpc>
                <a:spcPct val="200000"/>
              </a:lnSpc>
              <a:buSzPts val="900"/>
            </a:pPr>
            <a:r>
              <a:rPr lang="en-US" sz="2800" dirty="0">
                <a:latin typeface="Times New Roman" panose="02020603050405020304" pitchFamily="18" charset="0"/>
                <a:cs typeface="Times New Roman" panose="02020603050405020304" pitchFamily="18" charset="0"/>
              </a:rPr>
              <a:t>1) Multimodal Integration</a:t>
            </a:r>
          </a:p>
          <a:p>
            <a:pPr marL="685800" lvl="0" indent="-514350">
              <a:lnSpc>
                <a:spcPct val="200000"/>
              </a:lnSpc>
              <a:buSzPts val="900"/>
            </a:pPr>
            <a:r>
              <a:rPr lang="en-US" sz="2800" dirty="0">
                <a:latin typeface="Times New Roman" panose="02020603050405020304" pitchFamily="18" charset="0"/>
                <a:cs typeface="Times New Roman" panose="02020603050405020304" pitchFamily="18" charset="0"/>
              </a:rPr>
              <a:t>2) Voice-based Interaction</a:t>
            </a:r>
          </a:p>
          <a:p>
            <a:pPr marL="685800" lvl="0" indent="-514350">
              <a:lnSpc>
                <a:spcPct val="200000"/>
              </a:lnSpc>
              <a:buSzPts val="900"/>
            </a:pPr>
            <a:r>
              <a:rPr lang="en-US" sz="2800" dirty="0">
                <a:latin typeface="Times New Roman" panose="02020603050405020304" pitchFamily="18" charset="0"/>
                <a:cs typeface="Times New Roman" panose="02020603050405020304" pitchFamily="18" charset="0"/>
              </a:rPr>
              <a:t>3) Real-time Summary Generation</a:t>
            </a:r>
          </a:p>
          <a:p>
            <a:pPr marL="685800" lvl="0" indent="-514350">
              <a:lnSpc>
                <a:spcPct val="200000"/>
              </a:lnSpc>
              <a:buSzPts val="900"/>
            </a:pPr>
            <a:r>
              <a:rPr lang="en-US" sz="2800" dirty="0">
                <a:latin typeface="Times New Roman" panose="02020603050405020304" pitchFamily="18" charset="0"/>
                <a:cs typeface="Times New Roman" panose="02020603050405020304" pitchFamily="18" charset="0"/>
              </a:rPr>
              <a:t>4) Time-Saving for Healthcare Professionals</a:t>
            </a:r>
          </a:p>
          <a:p>
            <a:pPr marL="685800" lvl="0" indent="-514350">
              <a:lnSpc>
                <a:spcPct val="200000"/>
              </a:lnSpc>
              <a:buSzPts val="900"/>
            </a:pPr>
            <a:r>
              <a:rPr lang="en-US" sz="2800" dirty="0">
                <a:latin typeface="Times New Roman" panose="02020603050405020304" pitchFamily="18" charset="0"/>
                <a:cs typeface="Times New Roman" panose="02020603050405020304" pitchFamily="18" charset="0"/>
              </a:rPr>
              <a:t>5) Personalized Output</a:t>
            </a:r>
            <a:endParaRPr lang="en-US" sz="2800" dirty="0">
              <a:solidFill>
                <a:srgbClr val="000000"/>
              </a:solidFill>
              <a:latin typeface="Times New Roman" panose="02020603050405020304" pitchFamily="18" charset="0"/>
              <a:cs typeface="Times New Roman" panose="02020603050405020304" pitchFamily="18" charset="0"/>
              <a:sym typeface="Arial"/>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735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D96C-9079-1B74-4D5E-E455EBFEAEDA}"/>
            </a:ext>
          </a:extLst>
        </p:cNvPr>
        <p:cNvGrpSpPr/>
        <p:nvPr/>
      </p:nvGrpSpPr>
      <p:grpSpPr>
        <a:xfrm>
          <a:off x="0" y="0"/>
          <a:ext cx="0" cy="0"/>
          <a:chOff x="0" y="0"/>
          <a:chExt cx="0" cy="0"/>
        </a:xfrm>
      </p:grpSpPr>
      <p:sp>
        <p:nvSpPr>
          <p:cNvPr id="25" name="Oval 24">
            <a:extLst>
              <a:ext uri="{FF2B5EF4-FFF2-40B4-BE49-F238E27FC236}">
                <a16:creationId xmlns:a16="http://schemas.microsoft.com/office/drawing/2014/main" id="{6B267363-C38D-534E-7B44-A8429828EAD7}"/>
              </a:ext>
            </a:extLst>
          </p:cNvPr>
          <p:cNvSpPr/>
          <p:nvPr/>
        </p:nvSpPr>
        <p:spPr>
          <a:xfrm>
            <a:off x="-1896496" y="-2489923"/>
            <a:ext cx="4349410" cy="434775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16">
            <a:extLst>
              <a:ext uri="{FF2B5EF4-FFF2-40B4-BE49-F238E27FC236}">
                <a16:creationId xmlns:a16="http://schemas.microsoft.com/office/drawing/2014/main" id="{406A5ED5-9F98-F7C8-4328-18F53992AFFA}"/>
              </a:ext>
            </a:extLst>
          </p:cNvPr>
          <p:cNvSpPr txBox="1"/>
          <p:nvPr/>
        </p:nvSpPr>
        <p:spPr>
          <a:xfrm>
            <a:off x="-4552392" y="4604554"/>
            <a:ext cx="3515743" cy="40027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pic>
        <p:nvPicPr>
          <p:cNvPr id="2" name="Picture 1" descr="Logo">
            <a:extLst>
              <a:ext uri="{FF2B5EF4-FFF2-40B4-BE49-F238E27FC236}">
                <a16:creationId xmlns:a16="http://schemas.microsoft.com/office/drawing/2014/main" id="{D5487A4D-72C7-E14C-A67F-1A1319AC5F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860" y="755727"/>
            <a:ext cx="423480" cy="452597"/>
          </a:xfrm>
          <a:prstGeom prst="rect">
            <a:avLst/>
          </a:prstGeom>
        </p:spPr>
      </p:pic>
      <p:sp>
        <p:nvSpPr>
          <p:cNvPr id="5" name="Slide Number Placeholder 25">
            <a:extLst>
              <a:ext uri="{FF2B5EF4-FFF2-40B4-BE49-F238E27FC236}">
                <a16:creationId xmlns:a16="http://schemas.microsoft.com/office/drawing/2014/main" id="{EBEB1065-90AE-1C8D-83AD-D5326860F30D}"/>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11</a:t>
            </a:fld>
            <a:endParaRPr lang="en-IN" dirty="0">
              <a:solidFill>
                <a:schemeClr val="tx1"/>
              </a:solidFill>
            </a:endParaRPr>
          </a:p>
        </p:txBody>
      </p:sp>
      <p:sp>
        <p:nvSpPr>
          <p:cNvPr id="4" name="Rectangle 3">
            <a:extLst>
              <a:ext uri="{FF2B5EF4-FFF2-40B4-BE49-F238E27FC236}">
                <a16:creationId xmlns:a16="http://schemas.microsoft.com/office/drawing/2014/main" id="{A9F09401-E69B-7BC1-F623-5963250F8290}"/>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75EE1B7-8257-BF6A-7178-9362F1992B16}"/>
              </a:ext>
            </a:extLst>
          </p:cNvPr>
          <p:cNvSpPr txBox="1"/>
          <p:nvPr/>
        </p:nvSpPr>
        <p:spPr>
          <a:xfrm>
            <a:off x="4669233" y="5649466"/>
            <a:ext cx="2595582" cy="369332"/>
          </a:xfrm>
          <a:prstGeom prst="rect">
            <a:avLst/>
          </a:prstGeom>
          <a:noFill/>
        </p:spPr>
        <p:txBody>
          <a:bodyPr wrap="none" rtlCol="0">
            <a:spAutoFit/>
          </a:bodyPr>
          <a:lstStyle/>
          <a:p>
            <a:r>
              <a:rPr lang="en-IN" dirty="0"/>
              <a:t>Fig 2. Model Evaluation</a:t>
            </a:r>
          </a:p>
        </p:txBody>
      </p:sp>
      <p:pic>
        <p:nvPicPr>
          <p:cNvPr id="11" name="Picture 10" descr="result2.png"/>
          <p:cNvPicPr>
            <a:picLocks noChangeAspect="1"/>
          </p:cNvPicPr>
          <p:nvPr/>
        </p:nvPicPr>
        <p:blipFill>
          <a:blip r:embed="rId4"/>
          <a:stretch>
            <a:fillRect/>
          </a:stretch>
        </p:blipFill>
        <p:spPr>
          <a:xfrm>
            <a:off x="1248229" y="1632200"/>
            <a:ext cx="4818742" cy="3593599"/>
          </a:xfrm>
          <a:prstGeom prst="rect">
            <a:avLst/>
          </a:prstGeom>
        </p:spPr>
      </p:pic>
      <p:pic>
        <p:nvPicPr>
          <p:cNvPr id="12" name="Picture 11" descr="result1.png"/>
          <p:cNvPicPr>
            <a:picLocks noChangeAspect="1"/>
          </p:cNvPicPr>
          <p:nvPr/>
        </p:nvPicPr>
        <p:blipFill>
          <a:blip r:embed="rId5"/>
          <a:stretch>
            <a:fillRect/>
          </a:stretch>
        </p:blipFill>
        <p:spPr>
          <a:xfrm>
            <a:off x="6357257" y="1632200"/>
            <a:ext cx="4876800" cy="3593599"/>
          </a:xfrm>
          <a:prstGeom prst="rect">
            <a:avLst/>
          </a:prstGeom>
        </p:spPr>
      </p:pic>
    </p:spTree>
    <p:extLst>
      <p:ext uri="{BB962C8B-B14F-4D97-AF65-F5344CB8AC3E}">
        <p14:creationId xmlns:p14="http://schemas.microsoft.com/office/powerpoint/2010/main" val="1388039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500D4506-1CEB-8186-9278-5ED260C876DD}"/>
              </a:ext>
            </a:extLst>
          </p:cNvPr>
          <p:cNvSpPr/>
          <p:nvPr/>
        </p:nvSpPr>
        <p:spPr>
          <a:xfrm>
            <a:off x="4993651" y="259425"/>
            <a:ext cx="2657363" cy="735031"/>
          </a:xfrm>
          <a:prstGeom prst="roundRect">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Oval 24">
            <a:extLst>
              <a:ext uri="{FF2B5EF4-FFF2-40B4-BE49-F238E27FC236}">
                <a16:creationId xmlns:a16="http://schemas.microsoft.com/office/drawing/2014/main" id="{92930637-44E8-4C41-3BC7-17FB4E60AB0C}"/>
              </a:ext>
            </a:extLst>
          </p:cNvPr>
          <p:cNvSpPr/>
          <p:nvPr/>
        </p:nvSpPr>
        <p:spPr>
          <a:xfrm>
            <a:off x="-1896496" y="-2489924"/>
            <a:ext cx="5166301" cy="456907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itle 1">
            <a:extLst>
              <a:ext uri="{FF2B5EF4-FFF2-40B4-BE49-F238E27FC236}">
                <a16:creationId xmlns:a16="http://schemas.microsoft.com/office/drawing/2014/main" id="{EE72163D-385E-6C2B-8BBA-07AB7C0C6C14}"/>
              </a:ext>
            </a:extLst>
          </p:cNvPr>
          <p:cNvSpPr txBox="1">
            <a:spLocks/>
          </p:cNvSpPr>
          <p:nvPr/>
        </p:nvSpPr>
        <p:spPr>
          <a:xfrm>
            <a:off x="5175518" y="304648"/>
            <a:ext cx="3431280" cy="5293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RESULTS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14" name="Text Box 16">
            <a:extLst>
              <a:ext uri="{FF2B5EF4-FFF2-40B4-BE49-F238E27FC236}">
                <a16:creationId xmlns:a16="http://schemas.microsoft.com/office/drawing/2014/main" id="{4C2CD37E-1E8C-1145-E8AE-B1B59E34A2FA}"/>
              </a:ext>
            </a:extLst>
          </p:cNvPr>
          <p:cNvSpPr txBox="1"/>
          <p:nvPr/>
        </p:nvSpPr>
        <p:spPr>
          <a:xfrm>
            <a:off x="-4552392" y="4604554"/>
            <a:ext cx="3515743" cy="40027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pic>
        <p:nvPicPr>
          <p:cNvPr id="2" name="Picture 1" descr="Logo">
            <a:extLst>
              <a:ext uri="{FF2B5EF4-FFF2-40B4-BE49-F238E27FC236}">
                <a16:creationId xmlns:a16="http://schemas.microsoft.com/office/drawing/2014/main" id="{74F76894-4C51-9366-2B6F-4472D45D40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4059" y="465442"/>
            <a:ext cx="423480" cy="452597"/>
          </a:xfrm>
          <a:prstGeom prst="rect">
            <a:avLst/>
          </a:prstGeom>
        </p:spPr>
      </p:pic>
      <p:sp>
        <p:nvSpPr>
          <p:cNvPr id="5" name="Slide Number Placeholder 25">
            <a:extLst>
              <a:ext uri="{FF2B5EF4-FFF2-40B4-BE49-F238E27FC236}">
                <a16:creationId xmlns:a16="http://schemas.microsoft.com/office/drawing/2014/main" id="{66A565EB-B805-3B70-EFC2-CD31A6E6AFE2}"/>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12</a:t>
            </a:fld>
            <a:endParaRPr lang="en-IN" dirty="0">
              <a:solidFill>
                <a:schemeClr val="tx1"/>
              </a:solidFill>
            </a:endParaRPr>
          </a:p>
        </p:txBody>
      </p:sp>
      <p:grpSp>
        <p:nvGrpSpPr>
          <p:cNvPr id="9" name="Group 8">
            <a:extLst>
              <a:ext uri="{FF2B5EF4-FFF2-40B4-BE49-F238E27FC236}">
                <a16:creationId xmlns:a16="http://schemas.microsoft.com/office/drawing/2014/main" id="{BFF8E161-DD66-3D6D-E930-8243223B53D3}"/>
              </a:ext>
            </a:extLst>
          </p:cNvPr>
          <p:cNvGrpSpPr/>
          <p:nvPr/>
        </p:nvGrpSpPr>
        <p:grpSpPr>
          <a:xfrm>
            <a:off x="7832871" y="492621"/>
            <a:ext cx="990898" cy="180000"/>
            <a:chOff x="4679586" y="878988"/>
            <a:chExt cx="1123222" cy="190500"/>
          </a:xfrm>
        </p:grpSpPr>
        <p:sp>
          <p:nvSpPr>
            <p:cNvPr id="11" name="Oval 10">
              <a:extLst>
                <a:ext uri="{FF2B5EF4-FFF2-40B4-BE49-F238E27FC236}">
                  <a16:creationId xmlns:a16="http://schemas.microsoft.com/office/drawing/2014/main" id="{EE8216DF-4341-75BB-F12F-544A75E605CC}"/>
                </a:ext>
              </a:extLst>
            </p:cNvPr>
            <p:cNvSpPr/>
            <p:nvPr/>
          </p:nvSpPr>
          <p:spPr>
            <a:xfrm>
              <a:off x="4679586" y="878988"/>
              <a:ext cx="190500" cy="190500"/>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2" name="Oval 11">
              <a:extLst>
                <a:ext uri="{FF2B5EF4-FFF2-40B4-BE49-F238E27FC236}">
                  <a16:creationId xmlns:a16="http://schemas.microsoft.com/office/drawing/2014/main" id="{C9180292-5124-316B-625F-8FBD4C23A967}"/>
                </a:ext>
              </a:extLst>
            </p:cNvPr>
            <p:cNvSpPr/>
            <p:nvPr/>
          </p:nvSpPr>
          <p:spPr>
            <a:xfrm>
              <a:off x="4990736" y="878988"/>
              <a:ext cx="190500" cy="190500"/>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5" name="Oval 14">
              <a:extLst>
                <a:ext uri="{FF2B5EF4-FFF2-40B4-BE49-F238E27FC236}">
                  <a16:creationId xmlns:a16="http://schemas.microsoft.com/office/drawing/2014/main" id="{B3093C55-C8B8-3DFE-1D3E-98D42A9DD57A}"/>
                </a:ext>
              </a:extLst>
            </p:cNvPr>
            <p:cNvSpPr/>
            <p:nvPr/>
          </p:nvSpPr>
          <p:spPr>
            <a:xfrm>
              <a:off x="5301522" y="878988"/>
              <a:ext cx="190500" cy="190500"/>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7" name="Oval 16">
              <a:extLst>
                <a:ext uri="{FF2B5EF4-FFF2-40B4-BE49-F238E27FC236}">
                  <a16:creationId xmlns:a16="http://schemas.microsoft.com/office/drawing/2014/main" id="{9204DA52-A78C-51F6-59AB-761B3A0003A2}"/>
                </a:ext>
              </a:extLst>
            </p:cNvPr>
            <p:cNvSpPr/>
            <p:nvPr/>
          </p:nvSpPr>
          <p:spPr>
            <a:xfrm>
              <a:off x="5612308" y="878988"/>
              <a:ext cx="190500" cy="1905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9" name="Text Box 2">
            <a:extLst>
              <a:ext uri="{FF2B5EF4-FFF2-40B4-BE49-F238E27FC236}">
                <a16:creationId xmlns:a16="http://schemas.microsoft.com/office/drawing/2014/main" id="{E5C1B7AB-3A9E-C5D2-D095-EA51E2802ABA}"/>
              </a:ext>
            </a:extLst>
          </p:cNvPr>
          <p:cNvSpPr txBox="1">
            <a:spLocks noChangeArrowheads="1"/>
          </p:cNvSpPr>
          <p:nvPr/>
        </p:nvSpPr>
        <p:spPr bwMode="auto">
          <a:xfrm>
            <a:off x="5312557" y="5455129"/>
            <a:ext cx="2520314" cy="64087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362924B-0B1C-B57F-FA26-4509900BB933}"/>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pic>
        <p:nvPicPr>
          <p:cNvPr id="16" name="Picture 15" descr="Screenshot 2025-09-14 231350.png"/>
          <p:cNvPicPr>
            <a:picLocks noChangeAspect="1"/>
          </p:cNvPicPr>
          <p:nvPr/>
        </p:nvPicPr>
        <p:blipFill>
          <a:blip r:embed="rId4"/>
          <a:stretch>
            <a:fillRect/>
          </a:stretch>
        </p:blipFill>
        <p:spPr>
          <a:xfrm>
            <a:off x="1190171" y="1262743"/>
            <a:ext cx="10174515" cy="5024155"/>
          </a:xfrm>
          <a:prstGeom prst="rect">
            <a:avLst/>
          </a:prstGeom>
        </p:spPr>
      </p:pic>
    </p:spTree>
    <p:extLst>
      <p:ext uri="{BB962C8B-B14F-4D97-AF65-F5344CB8AC3E}">
        <p14:creationId xmlns:p14="http://schemas.microsoft.com/office/powerpoint/2010/main" val="4178071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3A40BED-815B-83F5-F717-BC195D772455}"/>
              </a:ext>
            </a:extLst>
          </p:cNvPr>
          <p:cNvGrpSpPr/>
          <p:nvPr/>
        </p:nvGrpSpPr>
        <p:grpSpPr>
          <a:xfrm>
            <a:off x="4248150" y="254566"/>
            <a:ext cx="5972912" cy="1097984"/>
            <a:chOff x="-40258" y="770665"/>
            <a:chExt cx="4651675" cy="438644"/>
          </a:xfrm>
        </p:grpSpPr>
        <p:sp>
          <p:nvSpPr>
            <p:cNvPr id="37" name="Oval 36">
              <a:extLst>
                <a:ext uri="{FF2B5EF4-FFF2-40B4-BE49-F238E27FC236}">
                  <a16:creationId xmlns:a16="http://schemas.microsoft.com/office/drawing/2014/main" id="{31F6746E-AEF6-A724-3598-198861A92423}"/>
                </a:ext>
              </a:extLst>
            </p:cNvPr>
            <p:cNvSpPr/>
            <p:nvPr/>
          </p:nvSpPr>
          <p:spPr>
            <a:xfrm>
              <a:off x="4405692" y="973385"/>
              <a:ext cx="205725" cy="96104"/>
            </a:xfrm>
            <a:prstGeom prst="ellipse">
              <a:avLst/>
            </a:prstGeom>
            <a:solidFill>
              <a:srgbClr val="03A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8" name="Oval 37">
              <a:extLst>
                <a:ext uri="{FF2B5EF4-FFF2-40B4-BE49-F238E27FC236}">
                  <a16:creationId xmlns:a16="http://schemas.microsoft.com/office/drawing/2014/main" id="{3C955FD4-1106-1707-CB1C-9BA93EA73480}"/>
                </a:ext>
              </a:extLst>
            </p:cNvPr>
            <p:cNvSpPr/>
            <p:nvPr/>
          </p:nvSpPr>
          <p:spPr>
            <a:xfrm>
              <a:off x="4026332" y="962028"/>
              <a:ext cx="205725" cy="96104"/>
            </a:xfrm>
            <a:prstGeom prst="ellipse">
              <a:avLst/>
            </a:prstGeom>
            <a:solidFill>
              <a:srgbClr val="EE9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9" name="Oval 38">
              <a:extLst>
                <a:ext uri="{FF2B5EF4-FFF2-40B4-BE49-F238E27FC236}">
                  <a16:creationId xmlns:a16="http://schemas.microsoft.com/office/drawing/2014/main" id="{F5A19300-DFE6-E0FE-5084-B1AE32BB2005}"/>
                </a:ext>
              </a:extLst>
            </p:cNvPr>
            <p:cNvSpPr/>
            <p:nvPr/>
          </p:nvSpPr>
          <p:spPr>
            <a:xfrm>
              <a:off x="3646152" y="973385"/>
              <a:ext cx="205725" cy="96104"/>
            </a:xfrm>
            <a:prstGeom prst="ellipse">
              <a:avLst/>
            </a:prstGeom>
            <a:solidFill>
              <a:srgbClr val="EF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40" name="Oval 39">
              <a:extLst>
                <a:ext uri="{FF2B5EF4-FFF2-40B4-BE49-F238E27FC236}">
                  <a16:creationId xmlns:a16="http://schemas.microsoft.com/office/drawing/2014/main" id="{500D4506-1CEB-8186-9278-5ED260C876DD}"/>
                </a:ext>
              </a:extLst>
            </p:cNvPr>
            <p:cNvSpPr/>
            <p:nvPr/>
          </p:nvSpPr>
          <p:spPr>
            <a:xfrm>
              <a:off x="3266383" y="973383"/>
              <a:ext cx="205725" cy="96104"/>
            </a:xfrm>
            <a:prstGeom prst="ellipse">
              <a:avLst/>
            </a:prstGeom>
            <a:solidFill>
              <a:srgbClr val="1C7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1" name="Rectangle: Rounded Corners 40">
              <a:extLst>
                <a:ext uri="{FF2B5EF4-FFF2-40B4-BE49-F238E27FC236}">
                  <a16:creationId xmlns:a16="http://schemas.microsoft.com/office/drawing/2014/main" id="{2DDB5F84-749B-455C-2B5E-ADD363EB58A8}"/>
                </a:ext>
              </a:extLst>
            </p:cNvPr>
            <p:cNvSpPr/>
            <p:nvPr/>
          </p:nvSpPr>
          <p:spPr>
            <a:xfrm>
              <a:off x="-40258" y="770665"/>
              <a:ext cx="3007740" cy="438644"/>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sp>
        <p:nvSpPr>
          <p:cNvPr id="25" name="Oval 24">
            <a:extLst>
              <a:ext uri="{FF2B5EF4-FFF2-40B4-BE49-F238E27FC236}">
                <a16:creationId xmlns:a16="http://schemas.microsoft.com/office/drawing/2014/main" id="{92930637-44E8-4C41-3BC7-17FB4E60AB0C}"/>
              </a:ext>
            </a:extLst>
          </p:cNvPr>
          <p:cNvSpPr/>
          <p:nvPr/>
        </p:nvSpPr>
        <p:spPr>
          <a:xfrm>
            <a:off x="-1896496" y="-2489924"/>
            <a:ext cx="5166301" cy="456907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itle 1">
            <a:extLst>
              <a:ext uri="{FF2B5EF4-FFF2-40B4-BE49-F238E27FC236}">
                <a16:creationId xmlns:a16="http://schemas.microsoft.com/office/drawing/2014/main" id="{EE72163D-385E-6C2B-8BBA-07AB7C0C6C14}"/>
              </a:ext>
            </a:extLst>
          </p:cNvPr>
          <p:cNvSpPr txBox="1">
            <a:spLocks/>
          </p:cNvSpPr>
          <p:nvPr/>
        </p:nvSpPr>
        <p:spPr>
          <a:xfrm>
            <a:off x="4402085" y="538863"/>
            <a:ext cx="3819583" cy="5293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FUTURE SCOPE</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14" name="Text Box 16">
            <a:extLst>
              <a:ext uri="{FF2B5EF4-FFF2-40B4-BE49-F238E27FC236}">
                <a16:creationId xmlns:a16="http://schemas.microsoft.com/office/drawing/2014/main" id="{4C2CD37E-1E8C-1145-E8AE-B1B59E34A2FA}"/>
              </a:ext>
            </a:extLst>
          </p:cNvPr>
          <p:cNvSpPr txBox="1"/>
          <p:nvPr/>
        </p:nvSpPr>
        <p:spPr>
          <a:xfrm>
            <a:off x="-4552392" y="4604554"/>
            <a:ext cx="3515743" cy="40027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12" name="Text Placeholder 2">
            <a:extLst>
              <a:ext uri="{FF2B5EF4-FFF2-40B4-BE49-F238E27FC236}">
                <a16:creationId xmlns:a16="http://schemas.microsoft.com/office/drawing/2014/main" id="{9C7A55D2-7009-980F-9DF5-52C27B1AA8A6}"/>
              </a:ext>
            </a:extLst>
          </p:cNvPr>
          <p:cNvSpPr txBox="1">
            <a:spLocks/>
          </p:cNvSpPr>
          <p:nvPr/>
        </p:nvSpPr>
        <p:spPr>
          <a:xfrm>
            <a:off x="3269805" y="1392056"/>
            <a:ext cx="7818769" cy="53832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lvl="0" indent="-514350">
              <a:lnSpc>
                <a:spcPct val="200000"/>
              </a:lnSpc>
              <a:buSzPts val="900"/>
              <a:buNone/>
            </a:pPr>
            <a:r>
              <a:rPr lang="en-US" dirty="0">
                <a:latin typeface="Times New Roman" panose="02020603050405020304" pitchFamily="18" charset="0"/>
                <a:cs typeface="Times New Roman" panose="02020603050405020304" pitchFamily="18" charset="0"/>
              </a:rPr>
              <a:t>1) Multi-Language Support</a:t>
            </a:r>
          </a:p>
          <a:p>
            <a:pPr marL="685800" lvl="0" indent="-514350">
              <a:lnSpc>
                <a:spcPct val="200000"/>
              </a:lnSpc>
              <a:buSzPts val="900"/>
              <a:buNone/>
            </a:pPr>
            <a:r>
              <a:rPr lang="en-US" dirty="0">
                <a:latin typeface="Times New Roman" panose="02020603050405020304" pitchFamily="18" charset="0"/>
                <a:cs typeface="Times New Roman" panose="02020603050405020304" pitchFamily="18" charset="0"/>
              </a:rPr>
              <a:t>2) Dynamic Doctor and Patient Dashboards</a:t>
            </a:r>
          </a:p>
          <a:p>
            <a:pPr marL="685800" lvl="0" indent="-514350">
              <a:lnSpc>
                <a:spcPct val="200000"/>
              </a:lnSpc>
              <a:buSzPts val="900"/>
              <a:buNone/>
            </a:pPr>
            <a:r>
              <a:rPr lang="en-US" dirty="0">
                <a:latin typeface="Times New Roman" panose="02020603050405020304" pitchFamily="18" charset="0"/>
                <a:cs typeface="Times New Roman" panose="02020603050405020304" pitchFamily="18" charset="0"/>
              </a:rPr>
              <a:t>3) Patient History &amp; Database Management</a:t>
            </a:r>
          </a:p>
          <a:p>
            <a:pPr marL="685800" lvl="0" indent="-514350">
              <a:lnSpc>
                <a:spcPct val="200000"/>
              </a:lnSpc>
              <a:buSzPts val="900"/>
              <a:buNone/>
            </a:pPr>
            <a:r>
              <a:rPr lang="en-US" dirty="0">
                <a:latin typeface="Times New Roman" panose="02020603050405020304" pitchFamily="18" charset="0"/>
                <a:cs typeface="Times New Roman" panose="02020603050405020304" pitchFamily="18" charset="0"/>
              </a:rPr>
              <a:t>4) 24×7 Virtual Support</a:t>
            </a:r>
          </a:p>
          <a:p>
            <a:pPr marL="685800" lvl="0" indent="-514350">
              <a:lnSpc>
                <a:spcPct val="200000"/>
              </a:lnSpc>
              <a:buSzPts val="900"/>
              <a:buNone/>
            </a:pPr>
            <a:r>
              <a:rPr lang="en-US" dirty="0">
                <a:latin typeface="Times New Roman" panose="02020603050405020304" pitchFamily="18" charset="0"/>
                <a:cs typeface="Times New Roman" panose="02020603050405020304" pitchFamily="18" charset="0"/>
              </a:rPr>
              <a:t>5) Doctor Community Integration</a:t>
            </a:r>
            <a:endParaRPr lang="en-US" dirty="0">
              <a:solidFill>
                <a:srgbClr val="000000"/>
              </a:solidFill>
              <a:latin typeface="Times New Roman" panose="02020603050405020304" pitchFamily="18" charset="0"/>
              <a:cs typeface="Times New Roman" panose="02020603050405020304" pitchFamily="18" charset="0"/>
              <a:sym typeface="Arial"/>
            </a:endParaRPr>
          </a:p>
          <a:p>
            <a:pPr marL="0" indent="0" algn="just">
              <a:lnSpc>
                <a:spcPct val="107000"/>
              </a:lnSpc>
              <a:spcAft>
                <a:spcPts val="800"/>
              </a:spcAft>
              <a:buNone/>
            </a:pP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07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8" name="Picture 17" descr="A cartoon of a person pointing at a light bulb&#10;&#10;Description automatically generated">
            <a:extLst>
              <a:ext uri="{FF2B5EF4-FFF2-40B4-BE49-F238E27FC236}">
                <a16:creationId xmlns:a16="http://schemas.microsoft.com/office/drawing/2014/main" id="{C28ACF7A-5DF7-954A-FA6F-8A0424CC6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008" y="2444276"/>
            <a:ext cx="4587534" cy="3121838"/>
          </a:xfrm>
          <a:prstGeom prst="rect">
            <a:avLst/>
          </a:prstGeom>
        </p:spPr>
      </p:pic>
      <p:pic>
        <p:nvPicPr>
          <p:cNvPr id="2" name="Picture 1" descr="Logo">
            <a:extLst>
              <a:ext uri="{FF2B5EF4-FFF2-40B4-BE49-F238E27FC236}">
                <a16:creationId xmlns:a16="http://schemas.microsoft.com/office/drawing/2014/main" id="{1A5A3D96-9B1D-C324-87F7-2B1FC9D9E9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6916" y="649169"/>
            <a:ext cx="672570" cy="718814"/>
          </a:xfrm>
          <a:prstGeom prst="rect">
            <a:avLst/>
          </a:prstGeom>
        </p:spPr>
      </p:pic>
      <p:sp>
        <p:nvSpPr>
          <p:cNvPr id="4" name="Slide Number Placeholder 25">
            <a:extLst>
              <a:ext uri="{FF2B5EF4-FFF2-40B4-BE49-F238E27FC236}">
                <a16:creationId xmlns:a16="http://schemas.microsoft.com/office/drawing/2014/main" id="{976CD7A1-D6D3-9F50-CB7C-99438D684B56}"/>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13</a:t>
            </a:fld>
            <a:endParaRPr lang="en-IN" dirty="0">
              <a:solidFill>
                <a:schemeClr val="tx1"/>
              </a:solidFill>
            </a:endParaRPr>
          </a:p>
        </p:txBody>
      </p:sp>
      <p:sp>
        <p:nvSpPr>
          <p:cNvPr id="5" name="Rectangle 4">
            <a:extLst>
              <a:ext uri="{FF2B5EF4-FFF2-40B4-BE49-F238E27FC236}">
                <a16:creationId xmlns:a16="http://schemas.microsoft.com/office/drawing/2014/main" id="{D43CBCC9-1621-0838-4280-6708518CFC99}"/>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1201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emo or die! – Mentorphile">
            <a:extLst>
              <a:ext uri="{FF2B5EF4-FFF2-40B4-BE49-F238E27FC236}">
                <a16:creationId xmlns:a16="http://schemas.microsoft.com/office/drawing/2014/main" id="{65814410-A7AB-4631-A2EE-DC5BEEADC0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13" y="284374"/>
            <a:ext cx="11041131" cy="628925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Logo">
            <a:extLst>
              <a:ext uri="{FF2B5EF4-FFF2-40B4-BE49-F238E27FC236}">
                <a16:creationId xmlns:a16="http://schemas.microsoft.com/office/drawing/2014/main" id="{E0FF8317-F924-0222-8851-DDA664A472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4" name="Slide Number Placeholder 25">
            <a:extLst>
              <a:ext uri="{FF2B5EF4-FFF2-40B4-BE49-F238E27FC236}">
                <a16:creationId xmlns:a16="http://schemas.microsoft.com/office/drawing/2014/main" id="{0FCE94CD-E956-0D2D-500D-6F71A54B8CA7}"/>
              </a:ext>
            </a:extLst>
          </p:cNvPr>
          <p:cNvSpPr>
            <a:spLocks noGrp="1"/>
          </p:cNvSpPr>
          <p:nvPr>
            <p:ph type="sldNum" sz="quarter" idx="12"/>
          </p:nvPr>
        </p:nvSpPr>
        <p:spPr>
          <a:xfrm>
            <a:off x="9439346" y="6226081"/>
            <a:ext cx="2743200" cy="365125"/>
          </a:xfrm>
        </p:spPr>
        <p:txBody>
          <a:bodyPr/>
          <a:lstStyle/>
          <a:p>
            <a:fld id="{8B57A28C-9B0E-425D-8A34-5E2AAF7428D5}" type="slidenum">
              <a:rPr lang="en-IN" smtClean="0">
                <a:solidFill>
                  <a:schemeClr val="tx1"/>
                </a:solidFill>
              </a:rPr>
              <a:pPr/>
              <a:t>14</a:t>
            </a:fld>
            <a:endParaRPr lang="en-IN" dirty="0">
              <a:solidFill>
                <a:schemeClr val="tx1"/>
              </a:solidFill>
            </a:endParaRPr>
          </a:p>
        </p:txBody>
      </p:sp>
      <p:sp>
        <p:nvSpPr>
          <p:cNvPr id="5" name="Rectangle 4">
            <a:extLst>
              <a:ext uri="{FF2B5EF4-FFF2-40B4-BE49-F238E27FC236}">
                <a16:creationId xmlns:a16="http://schemas.microsoft.com/office/drawing/2014/main" id="{C3D32A1D-C259-762F-B712-88C1FA635C6F}"/>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63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08FFD4D-7DC1-44B6-BF7A-BC3B0DEA2ADD}"/>
              </a:ext>
            </a:extLst>
          </p:cNvPr>
          <p:cNvSpPr/>
          <p:nvPr/>
        </p:nvSpPr>
        <p:spPr>
          <a:xfrm>
            <a:off x="6096000" y="2247"/>
            <a:ext cx="6096000" cy="685575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AutoShape 2">
            <a:extLst>
              <a:ext uri="{FF2B5EF4-FFF2-40B4-BE49-F238E27FC236}">
                <a16:creationId xmlns:a16="http://schemas.microsoft.com/office/drawing/2014/main" id="{2C41B4E5-7E88-DE9B-F13F-09EDC5FA4C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1" name="TextBox 10">
            <a:extLst>
              <a:ext uri="{FF2B5EF4-FFF2-40B4-BE49-F238E27FC236}">
                <a16:creationId xmlns:a16="http://schemas.microsoft.com/office/drawing/2014/main" id="{9C18938E-534C-C976-C5C0-F8D654933528}"/>
              </a:ext>
            </a:extLst>
          </p:cNvPr>
          <p:cNvSpPr txBox="1"/>
          <p:nvPr/>
        </p:nvSpPr>
        <p:spPr>
          <a:xfrm rot="21020353">
            <a:off x="2406836" y="2025608"/>
            <a:ext cx="7225930" cy="1569660"/>
          </a:xfrm>
          <a:prstGeom prst="rect">
            <a:avLst/>
          </a:prstGeom>
          <a:noFill/>
        </p:spPr>
        <p:txBody>
          <a:bodyPr wrap="square" rtlCol="0">
            <a:spAutoFit/>
          </a:bodyPr>
          <a:lstStyle/>
          <a:p>
            <a:pPr algn="l"/>
            <a:r>
              <a:rPr lang="en-US" sz="9600" b="1" i="0" dirty="0">
                <a:effectLst/>
                <a:latin typeface="Times New Roman" panose="02020603050405020304" pitchFamily="18" charset="0"/>
                <a:cs typeface="Times New Roman" panose="02020603050405020304" pitchFamily="18" charset="0"/>
              </a:rPr>
              <a:t>Thank  </a:t>
            </a:r>
            <a:r>
              <a:rPr lang="en-US" sz="9600" b="1" i="0" dirty="0">
                <a:solidFill>
                  <a:schemeClr val="bg1"/>
                </a:solidFill>
                <a:effectLst/>
                <a:latin typeface="Times New Roman" panose="02020603050405020304" pitchFamily="18" charset="0"/>
                <a:cs typeface="Times New Roman" panose="02020603050405020304" pitchFamily="18" charset="0"/>
              </a:rPr>
              <a:t>You!!</a:t>
            </a:r>
            <a:endParaRPr lang="en-US" sz="13800" b="0" i="0"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5B8F4723-0567-F323-1253-18100EA876DB}"/>
              </a:ext>
            </a:extLst>
          </p:cNvPr>
          <p:cNvSpPr>
            <a:spLocks noGrp="1"/>
          </p:cNvSpPr>
          <p:nvPr>
            <p:ph type="dt" sz="half" idx="10"/>
          </p:nvPr>
        </p:nvSpPr>
        <p:spPr>
          <a:xfrm>
            <a:off x="526858" y="6490628"/>
            <a:ext cx="2743200" cy="365125"/>
          </a:xfrm>
        </p:spPr>
        <p:txBody>
          <a:bodyPr/>
          <a:lstStyle/>
          <a:p>
            <a:fld id="{068F0923-F82B-4EE7-9C55-9776A30734FD}" type="datetime1">
              <a:rPr lang="en-IN" smtClean="0"/>
              <a:pPr/>
              <a:t>15-09-2025</a:t>
            </a:fld>
            <a:endParaRPr lang="en-IN" dirty="0"/>
          </a:p>
        </p:txBody>
      </p:sp>
      <p:pic>
        <p:nvPicPr>
          <p:cNvPr id="2" name="Picture 1" descr="Logo">
            <a:extLst>
              <a:ext uri="{FF2B5EF4-FFF2-40B4-BE49-F238E27FC236}">
                <a16:creationId xmlns:a16="http://schemas.microsoft.com/office/drawing/2014/main" id="{685B35E0-59FE-85C6-5BBA-81669B824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45" y="117099"/>
            <a:ext cx="423480" cy="452597"/>
          </a:xfrm>
          <a:prstGeom prst="rect">
            <a:avLst/>
          </a:prstGeom>
        </p:spPr>
      </p:pic>
      <p:sp>
        <p:nvSpPr>
          <p:cNvPr id="4" name="Slide Number Placeholder 25">
            <a:extLst>
              <a:ext uri="{FF2B5EF4-FFF2-40B4-BE49-F238E27FC236}">
                <a16:creationId xmlns:a16="http://schemas.microsoft.com/office/drawing/2014/main" id="{DD4258E2-AEFE-C225-7F5E-3597BE1BD666}"/>
              </a:ext>
            </a:extLst>
          </p:cNvPr>
          <p:cNvSpPr txBox="1">
            <a:spLocks/>
          </p:cNvSpPr>
          <p:nvPr/>
        </p:nvSpPr>
        <p:spPr>
          <a:xfrm>
            <a:off x="9439346" y="622608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57A28C-9B0E-425D-8A34-5E2AAF7428D5}" type="slidenum">
              <a:rPr lang="en-IN" smtClean="0">
                <a:solidFill>
                  <a:schemeClr val="bg1"/>
                </a:solidFill>
              </a:rPr>
              <a:pPr/>
              <a:t>15</a:t>
            </a:fld>
            <a:endParaRPr lang="en-IN" dirty="0">
              <a:solidFill>
                <a:schemeClr val="bg1"/>
              </a:solidFill>
            </a:endParaRPr>
          </a:p>
        </p:txBody>
      </p:sp>
      <p:sp>
        <p:nvSpPr>
          <p:cNvPr id="7" name="Rectangle 6">
            <a:extLst>
              <a:ext uri="{FF2B5EF4-FFF2-40B4-BE49-F238E27FC236}">
                <a16:creationId xmlns:a16="http://schemas.microsoft.com/office/drawing/2014/main" id="{CD649C87-8DCE-083D-5C5F-B178FC470AA4}"/>
              </a:ext>
            </a:extLst>
          </p:cNvPr>
          <p:cNvSpPr/>
          <p:nvPr/>
        </p:nvSpPr>
        <p:spPr>
          <a:xfrm>
            <a:off x="0" y="6591206"/>
            <a:ext cx="12220576" cy="266794"/>
          </a:xfrm>
          <a:prstGeom prst="rect">
            <a:avLst/>
          </a:prstGeom>
          <a:solidFill>
            <a:srgbClr val="1C7CB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spcBef>
                <a:spcPts val="0"/>
              </a:spcBef>
              <a:spcAft>
                <a:spcPts val="0"/>
              </a:spcAft>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  Group-07, Department Of Computer Science Engineering (Artificial Intelligence), VIIT, Pune-48    </a:t>
            </a:r>
            <a:endParaRPr lang="en-US"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61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1536</TotalTime>
  <Words>1541</Words>
  <Application>Microsoft Office PowerPoint</Application>
  <PresentationFormat>Widescreen</PresentationFormat>
  <Paragraphs>160</Paragraphs>
  <Slides>15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Display</vt:lpstr>
      <vt:lpstr>Arial</vt:lpstr>
      <vt:lpstr>Franklin Gothic</vt:lpstr>
      <vt:lpstr>Times New Roman</vt:lpstr>
      <vt:lpstr>Tw Cen MT</vt:lpstr>
      <vt:lpstr>Wingdings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 Bothara</dc:creator>
  <cp:lastModifiedBy>Sarvesh Warule</cp:lastModifiedBy>
  <cp:revision>40</cp:revision>
  <dcterms:created xsi:type="dcterms:W3CDTF">2024-05-01T18:21:32Z</dcterms:created>
  <dcterms:modified xsi:type="dcterms:W3CDTF">2025-09-14T19:05:00Z</dcterms:modified>
</cp:coreProperties>
</file>